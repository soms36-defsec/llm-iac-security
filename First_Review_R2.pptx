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8" r:id="rId22"/>
    <p:sldId id="279" r:id="rId23"/>
    <p:sldId id="280" r:id="rId24"/>
    <p:sldId id="276" r:id="rId25"/>
    <p:sldId id="277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3" d="100"/>
          <a:sy n="63" d="100"/>
        </p:scale>
        <p:origin x="77" y="11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9994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0C69B-E8D7-37EE-3F20-3C1FA03F5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B0B3CE-CB30-06E0-89CB-65494219E1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FBC6EE-C3E5-6859-F378-51D3B19678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AD6995-2FFD-CE8E-E445-E82C2C7BC8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73224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4988D-C593-4A5C-DAC2-58ECEA722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330A2C-0546-6436-57CE-4D5A19C87E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61B4D4-6199-B1EE-B82E-06820D47DD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8DED0-D273-0D7C-58B0-0F3BF9E12E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77256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A802D-F09F-BF05-3717-2D54F3F67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9EB9C4-9D72-DCC2-E40C-82A95E9376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6F2714-B755-9159-6B7C-6BABB0B9D2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B1F439-0BF1-7AB8-5676-4EAA576DF6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00165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4342" y="18288"/>
            <a:ext cx="2216506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4767" y="1417320"/>
            <a:ext cx="8595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Agentic Workflow for Automated Vulnerability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and Remediation in Infrastructure-as-Code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194767" y="25146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127003252  Someshwar 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127003056  Dhanvanth V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286000" y="31546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By,
</a:t>
            </a:r>
            <a:r>
              <a:rPr lang="en-US" sz="1200" b="1" dirty="0">
                <a:solidFill>
                  <a:srgbClr val="001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Dr.R.Alageswaran
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Associate Dean-Student Welfare &amp; Professor, School of Computing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96596" y="4663440"/>
            <a:ext cx="75895" cy="75895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92608" y="463600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of Computing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297680" y="466344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744968" y="463600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18/03/2026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4342" y="18288"/>
            <a:ext cx="2216506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4767" y="54864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1D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LAYOUT OF THIS PRESENTATION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196596" y="4663440"/>
            <a:ext cx="75895" cy="75895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92608" y="463600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of Computing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744968" y="463600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18/03/2026</a:t>
            </a:r>
            <a:endParaRPr lang="en-US" sz="850" dirty="0"/>
          </a:p>
          <a:p>
            <a:pPr marL="0" indent="0" algn="r">
              <a:buNone/>
            </a:pP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297680" y="466344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94767" y="694944"/>
            <a:ext cx="4114800" cy="388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Paper Details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of Existing Systems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0" y="694944"/>
            <a:ext cx="4297680" cy="388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&amp; Software Requirements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Diagram / System Architecture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of Modules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Explanations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Results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4342" y="18288"/>
            <a:ext cx="2216506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4767" y="54864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1D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BASE PAPER DETAILS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196596" y="4663440"/>
            <a:ext cx="75895" cy="75895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92608" y="463600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of Computing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744968" y="463600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18/03/2026</a:t>
            </a:r>
            <a:endParaRPr lang="en-US" sz="850" dirty="0"/>
          </a:p>
          <a:p>
            <a:pPr marL="0" indent="0" algn="r">
              <a:buNone/>
            </a:pP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297680" y="466344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94767" y="694944"/>
          <a:ext cx="8686800" cy="365759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9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25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 Paper Title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D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 Agentic Workflow for Automated Vulnerability Detection and Remediation in Infrastructure-as-Code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Journal Name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D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IEEE Access (Open Access Journal)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of Publication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D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Publisher Name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D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IEEE – Institute of Electrical and Electronics Engineers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Authors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D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Dheer Toprani, Vijay K. Madisetti – Georgia Institute of Technology, Atlanta, GA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D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10.1109/ACCESS.2025.3560911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 Paper Link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D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https://ieeexplore.ieee.org/document/10965635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4342" y="18288"/>
            <a:ext cx="2216506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4767" y="54864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1D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ABSTRACT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196596" y="4663440"/>
            <a:ext cx="75895" cy="75895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92608" y="463600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of Computing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744968" y="463600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18/03/2026</a:t>
            </a:r>
            <a:endParaRPr lang="en-US" sz="850" dirty="0"/>
          </a:p>
          <a:p>
            <a:pPr marL="0" indent="0" algn="r">
              <a:buNone/>
            </a:pP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297680" y="466344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94767" y="694944"/>
            <a:ext cx="8686800" cy="388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rapid growth of </a:t>
            </a:r>
            <a:r>
              <a:rPr lang="en-US" sz="13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Infrastructure-as-Code (IaC)</a:t>
            </a: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cloud-native environments has created serious security risks, as small misconfigurations in templates can lead to major data breaches.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cloud systems become more complex, it becomes harder for developers to identify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and context-specific vulnerabilities</a:t>
            </a: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using traditional security tools.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vulnerability detection methods mainly rely on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analysis tools, rule-based systems</a:t>
            </a: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(such as CDK-Nag), and dynamic runtime analysis. These tools fail to detect interdependent or complex vulnerabilities and produce high </a:t>
            </a:r>
            <a:r>
              <a:rPr lang="en-US" sz="13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positives</a:t>
            </a: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because they cannot understand infrastructure context.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project implements a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AI workflow</a:t>
            </a: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using LLMs and </a:t>
            </a:r>
            <a:r>
              <a:rPr lang="en-US" sz="13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Retrieval-Augmented Generation (RAG)</a:t>
            </a: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 RAG module (50% complete) embeds AWS CIS Benchmark security best practices into a </a:t>
            </a:r>
            <a:r>
              <a:rPr lang="en-US" sz="13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Bedrock</a:t>
            </a: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(Claude 3.5 Sonnet V2) and a </a:t>
            </a:r>
            <a:r>
              <a:rPr lang="en-US" sz="13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Pinecone vector store</a:t>
            </a: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using Amazon Titan Text Embeddings V2, and successfully retrieves relevant security context for CloudFormation templates. The </a:t>
            </a:r>
            <a:r>
              <a:rPr lang="en-US" sz="13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Vulnerability Detection Agent, Remediation Engine, and Report Generator</a:t>
            </a: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are the next implementation phase.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4342" y="18288"/>
            <a:ext cx="2216506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4767" y="54864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1D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196596" y="4663440"/>
            <a:ext cx="75895" cy="75895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92608" y="463600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of Computing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744968" y="463600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18/03/2026</a:t>
            </a:r>
            <a:endParaRPr lang="en-US" sz="850" dirty="0"/>
          </a:p>
          <a:p>
            <a:pPr marL="0" indent="0" algn="r">
              <a:buNone/>
            </a:pP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297680" y="466344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94767" y="694944"/>
            <a:ext cx="8686800" cy="388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Rise of Cloud Automation: Organizations widely adopt Infrastructure-as-Code (IaC) to automatically create and manage complex cloud environments using declarative templates.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Challenge: Although IaC improves speed and consistency, it introduces serious security risks. Misconfigurations — unencrypted databases, open ports, overly permissive IAM roles — can cause major data breaches (e.g., the UniSuper Google Cloud breach, 2024).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of Current Tools: Traditional security tools depend on static, rule-based systems. They detect simple errors but often miss context-specific and compound vulnerabilities caused by interactions between cloud resources.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of False Positives: Existing tools generate many false positives, overloading developers with unnecessary alerts and causing "alert fatigue" that reduces overall security posture.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Approach: An LLM-driven multi-agent pipeline augmented by RAG — combining semantic reasoning with a continuously updated security knowledge base to detect misconfigurations with high accuracy and generate actionable remediation guidance.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4342" y="18288"/>
            <a:ext cx="2216506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4767" y="54864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1D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REVIEW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196596" y="4663440"/>
            <a:ext cx="75895" cy="75895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92608" y="463600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of Computing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744968" y="463600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endParaRPr lang="en-US" sz="850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r"/>
            <a:endParaRPr lang="en-US" sz="850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r"/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18/03/2026</a:t>
            </a:r>
            <a:endParaRPr lang="en-US" sz="850" dirty="0"/>
          </a:p>
          <a:p>
            <a:pPr marL="0" indent="0" algn="r">
              <a:buNone/>
            </a:pP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297680" y="466344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94767" y="649224"/>
          <a:ext cx="8686800" cy="4023360"/>
        </p:xfrm>
        <a:graphic>
          <a:graphicData uri="http://schemas.openxmlformats.org/drawingml/2006/table">
            <a:tbl>
              <a:tblPr/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Sl.No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D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Author / Title / Journal / Year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D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Technique Used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D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Merits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D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Limitations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Toprani &amp; Madisetti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 Agentic Workflow for Automated Vulnerability Detection in IaC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IEEE Access, 2025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Multi-agent LLM + RAG (Claude 3.5, Titan Embeddings, OpenSearch)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85% detection; context-aware compound vulnerability detection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~15% false positives; 80–100s latency; evaluated on only 10 templates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Lian et al.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Configuration Validation with LLMs (Ciri)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arXiv, 2023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Zero-shot LLM as generic config validator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fine-tuning; generalises across config types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hallucination rate; inconsistent without external grounding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Saavedra &amp; Ferreira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GLITCH: Polyglot Security Smell Detection in IaC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IEEE/ACM ASE, 2022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Technology-agnostic static analysis + ML pattern recognition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Works across Ansible, Puppet, Chef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Dataset quality issues; poor adaptability to new cloud services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4342" y="18288"/>
            <a:ext cx="2216506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4767" y="54864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1D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REVIEW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196596" y="4663440"/>
            <a:ext cx="75895" cy="75895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92608" y="463600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of Computing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744968" y="463600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50" dirty="0"/>
          </a:p>
          <a:p>
            <a:pPr algn="r"/>
            <a:endParaRPr lang="en-US" sz="850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r"/>
            <a:endParaRPr lang="en-US" sz="850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r"/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18/03/2026</a:t>
            </a:r>
            <a:endParaRPr lang="en-US" sz="850" dirty="0"/>
          </a:p>
          <a:p>
            <a:pPr marL="0" indent="0" algn="r">
              <a:buNone/>
            </a:pP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297680" y="466344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94767" y="649224"/>
          <a:ext cx="8686800" cy="4023360"/>
        </p:xfrm>
        <a:graphic>
          <a:graphicData uri="http://schemas.openxmlformats.org/drawingml/2006/table">
            <a:tbl>
              <a:tblPr/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Sl.No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D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Author / Title / Journal / Year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D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Technique Used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D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Merits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D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Limitations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Malul et al.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GenKubeSec: LLM-Based Kubernetes Misconfiguration Detection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arXiv, 2024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 fine-tuned on Kubernetes manifests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Effective localization; rationale per finding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Domain-specific to K8s; false positives on edge cases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Ullah et al.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LLMs Cannot Reliably Identify Security Vulnerabilities (Yet?)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IEEE S&amp;P, 2024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Benchmark of GPT-4, Claude, Gemini on 228 CVEs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Rigorous evaluation framework; identifies LLM failure modes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 to 50% miss-rate on context-specific CVEs; hallucinations without grounding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Minna et al.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Analyzing Security Misconfigurations of Helm Charts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arXiv, 2024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 static analysis of Helm charts from Artifact Hub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 large-scale Helm security study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Limited to Helm; no remediation automation; high false positive rate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4342" y="18288"/>
            <a:ext cx="2216506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4767" y="54864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1D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LIMITATIONS OF EXISTING SYSTEMS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196596" y="4663440"/>
            <a:ext cx="75895" cy="75895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92608" y="463600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of Computing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744968" y="463600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18/03/2026</a:t>
            </a:r>
            <a:endParaRPr lang="en-US" sz="850" dirty="0"/>
          </a:p>
          <a:p>
            <a:pPr marL="0" indent="0" algn="r">
              <a:buNone/>
            </a:pP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297680" y="466344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94767" y="694944"/>
            <a:ext cx="8686800" cy="388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Context-Aware Reasoning: Static rule engines like CDK-Nag match patterns against fixed rule sets. They cannot detect compound vulnerabilities — cases where two individually safe configurations become dangerous when combined.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Excessive False Positives (15–30%): Rule packs flag configurations that are valid in the organisation's specific context, generating alert fatigue and eroding developer trust.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Stale Security Knowledge: Rule packs updated infrequently. LLMs trained before new AWS advisories miss newly disclosed vulnerabilities and deprecated service recommendations without RAG grounding.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Automated Remediation Guidance: Existing scanners identify issues but leave developers to research and apply fixes manually — increasing Mean Time to Remediation (MTTR).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Scalability to Complex Templates: Conditional logic, parameterised resources, and cross-stack references cause both rule-based tools and zero-shot LLMs to produce redundant or missed alerts.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CI/CD Integration: Most tools lack native pipeline hooks. Reports are not developer-friendly and difficult to feed into issue-tracking workflows automatically.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4342" y="18288"/>
            <a:ext cx="2216506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4767" y="54864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1D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196596" y="4663440"/>
            <a:ext cx="75895" cy="75895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92608" y="463600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of Computing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744968" y="463600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18/03/2026</a:t>
            </a:r>
            <a:endParaRPr lang="en-US" sz="850" dirty="0"/>
          </a:p>
          <a:p>
            <a:pPr marL="0" indent="0" algn="r">
              <a:buNone/>
            </a:pP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297680" y="466344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94767" y="694944"/>
            <a:ext cx="8686800" cy="388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Complexity of Cloud Infrastructure: As organisations rapidly adopt IaC, cloud environments are too complex to manage manually — leading to frequent misconfigurations such as unencrypted databases or open access ports.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of Traditional Tools: Existing security tools operate on rigid rules. They are like "spellcheckers" — they catch simple typos but fail to understand the context, missing subtle, interdependent vulnerabilities.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False Positives: Because current tools lack semantic understanding, they often flag safe configurations as dangerous. This overwhelms developers with useless alerts and causes "alert fatigue".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Lack of Automated Remediation: Current tools only find the problems but do not provide actionable fixes. This forces developers to manually research and patch security issues, which is slow and error-prone.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Staleness: LLMs and rule-based tools do not automatically incorporate newly released AWS security advisories or updated CIS Benchmark requirements, causing missed detections on emerging threats.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4342" y="18288"/>
            <a:ext cx="2216506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4767" y="54864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1D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196596" y="4663440"/>
            <a:ext cx="75895" cy="75895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92608" y="463600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of Computing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744968" y="463600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18/03/2026</a:t>
            </a:r>
            <a:endParaRPr lang="en-US" sz="850" dirty="0"/>
          </a:p>
          <a:p>
            <a:pPr marL="0" indent="0" algn="r">
              <a:buNone/>
            </a:pP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297680" y="466344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94767" y="694944"/>
            <a:ext cx="8686800" cy="388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and implement a multi-agent AI framework to automatically detect security vulnerabilities in Infrastructure-as-Code (IaC) templates.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Overcome the limitations of traditional static analysis tools by using Retrieval-Augmented Generation (RAG) to identify context-specific misconfigurations and reduce false positives.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structured Vulnerability Detection Agent that invokes Amazon Bedrock (Claude 3.5 Sonnet V2) with an enriched context (parsed template summary + retrieved CIS Benchmark snippets) and returns findings as structured JSON.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automated, actionable remediation guidance for each finding, referencing specific CloudFormation properties and AWS security documentation.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automated and actionable remediation guidance that integrates smoothly with CI/CD workflows (GitHub Actions, GitLab CI, Jenkins), reduces manual effort, and improves overall cloud security scalability.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4342" y="18288"/>
            <a:ext cx="2216506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4767" y="54864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1D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196596" y="4663440"/>
            <a:ext cx="75895" cy="75895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92608" y="463600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of Computing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744968" y="463600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endParaRPr lang="en-US" sz="850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r"/>
            <a:endParaRPr lang="en-US" sz="850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r"/>
            <a:endParaRPr lang="en-US" sz="850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r"/>
            <a:endParaRPr lang="en-US" sz="850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r"/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18/03/2026</a:t>
            </a:r>
            <a:endParaRPr lang="en-US" sz="850" dirty="0"/>
          </a:p>
          <a:p>
            <a:pPr marL="0" indent="0" algn="r">
              <a:buNone/>
            </a:pP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297680" y="466344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94767" y="649224"/>
          <a:ext cx="8686800" cy="4069080"/>
        </p:xfrm>
        <a:graphic>
          <a:graphicData uri="http://schemas.openxmlformats.org/drawingml/2006/table">
            <a:tbl>
              <a:tblPr/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86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D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D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 / Technology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D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 in System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6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CloudFormation Parsing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 PyYAML + Custom Extractor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Parse &amp; normalise YAML/JSON templates; extract security-relevant attributes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6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Knowledge Embedding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Amazon Titan Text Embeddings V2 (1536-dim)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Embed CIS Benchmark &amp; Well-Architected security documents into vectors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6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Vector Store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Pinecone (serverless)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Store and retrieve security knowledge chunks via cosine similarity search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6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RAG Retrieval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Top-K vector search (K=5)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Fetch relevant best practices per CloudFormation query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6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 Inference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Amazon Bedrock — Claude 3.5 Sonnet V2 / Claude Sonnet 4.x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Detect vulnerabilities from enriched context; output structured JSON findings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6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Orchestration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 Agent Pipeline (RetrievalAgent + WorkflowManager)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Coordinate agents in fixed sequential pipeline; manage state passing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6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 Generation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Markdown + Severity Classifier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Produce developer-facing report; CI/CD exit codes for build gating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4342" y="18288"/>
            <a:ext cx="2216506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4767" y="54864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1D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HARDWARE AND SOFTWARE REQUIREMENTS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196596" y="4663440"/>
            <a:ext cx="75895" cy="75895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92608" y="463600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of Computing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744968" y="463600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18/03/2026</a:t>
            </a:r>
            <a:endParaRPr lang="en-US" sz="850" dirty="0"/>
          </a:p>
          <a:p>
            <a:pPr marL="0" indent="0" algn="r">
              <a:buNone/>
            </a:pP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297680" y="466344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94767" y="71323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1D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Hardware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94767" y="1024128"/>
            <a:ext cx="41605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Processor: Intel Core i7 / AMD Ryzen 7 or above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RAM: Minimum 16 GB (32 GB recommended for large-scale template scanning)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Storage: 30 GB free disk space (dependencies, datasets, reports)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GPU: Not required — inference runs on Amazon Bedrock (cloud)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Network: Stable internet required — AWS Bedrock API, Pinecone, boto3 calls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0" y="713232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1D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Software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0" y="1024128"/>
            <a:ext cx="42519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OS: Windows 10/11 (64-bit)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Language: Python 3.10+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Runtime: Amazon Bedrock — Claude 3.5 Sonnet V2 / Claude Sonnet 4.x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Embeddings: Amazon Titan Text Embeddings V2 (via AWS boto3 SDK)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Database: Pinecone (primary cloud vector store)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Fallback: HuggingFace sentence-transformers (all-MiniLM-L6-v2)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Store Fallback: FAISS / ChromaDB (local)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Pipeline: Custom RAG pipeline (RetrievalAgent + WorkflowManager)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Services: Bedrock, IAM, boto3 SDK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Parsing: PyYAML (CloudFormation), jsonschema (validation)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Utilities: python-dotenv, pytest, tqdm, colorlog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IDE: VS Code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4342" y="18288"/>
            <a:ext cx="2216506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4767" y="54864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1D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FLOW DIAGRAM / SYSTEM ARCHITECTURE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196596" y="4663440"/>
            <a:ext cx="75895" cy="75895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92608" y="463600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of Computing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744968" y="463600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18/03/2026</a:t>
            </a:r>
            <a:endParaRPr lang="en-US" sz="850" dirty="0"/>
          </a:p>
          <a:p>
            <a:pPr marL="0" indent="0" algn="r">
              <a:buNone/>
            </a:pP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297680" y="466344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647" y="694944"/>
            <a:ext cx="82296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4342" y="18288"/>
            <a:ext cx="2216506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4767" y="54864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1D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LIST OF MODULES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196596" y="4663440"/>
            <a:ext cx="75895" cy="75895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92608" y="463600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of Computing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744968" y="463600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16/07/2025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297680" y="466344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94767" y="694944"/>
            <a:ext cx="8686800" cy="388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1: RAG Pipeline — Knowledge Base &amp; Retrieval  ✓ COMPLETED</a:t>
            </a:r>
            <a:endParaRPr lang="en-US" sz="1200" dirty="0">
              <a:solidFill>
                <a:srgbClr val="00B050"/>
              </a:solidFill>
            </a:endParaRPr>
          </a:p>
          <a:p>
            <a:pPr marL="508000" lvl="1" indent="-254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Submodule 1: Knowledge Base Creation (CIS Benchmark PDF + GitHub IaC datasets)</a:t>
            </a:r>
            <a:endParaRPr lang="en-US" sz="1200" dirty="0"/>
          </a:p>
          <a:p>
            <a:pPr marL="508000" lvl="1" indent="-254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Submodule 2: Document Embedding (Amazon Titan Text Embeddings V2)</a:t>
            </a:r>
            <a:endParaRPr lang="en-US" sz="1200" dirty="0"/>
          </a:p>
          <a:p>
            <a:pPr marL="508000" lvl="1" indent="-254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Submodule 3: Vector Store Indexing &amp; Retrieval (Pinecone)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2: CloudFormation Template Parser &amp; Normaliser  ✓ COMPLETED</a:t>
            </a:r>
            <a:endParaRPr lang="en-US" sz="1200" dirty="0">
              <a:solidFill>
                <a:srgbClr val="00B050"/>
              </a:solidFill>
            </a:endParaRPr>
          </a:p>
          <a:p>
            <a:pPr marL="508000" lvl="1" indent="-254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Submodule 1: YAML/JSON Parsing (with intrinsic function handling)</a:t>
            </a:r>
            <a:endParaRPr lang="en-US" sz="1200" dirty="0"/>
          </a:p>
          <a:p>
            <a:pPr marL="508000" lvl="1" indent="-254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Submodule 2: Security Attribute Extraction (S3, IAM, SG, RDS)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3: Vulnerability Detection Agent ✓ COMPLETED</a:t>
            </a:r>
            <a:endParaRPr lang="en-US" sz="1200" dirty="0">
              <a:solidFill>
                <a:srgbClr val="00B050"/>
              </a:solidFill>
            </a:endParaRPr>
          </a:p>
          <a:p>
            <a:pPr marL="508000" lvl="1" indent="-254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Submodule 1: LLM Prompt Engineering (RAG context injection)</a:t>
            </a:r>
            <a:endParaRPr lang="en-US" sz="1200" dirty="0"/>
          </a:p>
          <a:p>
            <a:pPr marL="508000" lvl="1" indent="-254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Submodule 2: LLM Semantic Analysis (Amazon Bedrock — Claude Sonnet)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4: Remediation and Reporting ✓ COMPLETED</a:t>
            </a:r>
            <a:endParaRPr lang="en-US" sz="1200" dirty="0">
              <a:solidFill>
                <a:srgbClr val="00B050"/>
              </a:solidFill>
            </a:endParaRPr>
          </a:p>
          <a:p>
            <a:pPr marL="508000" lvl="1" indent="-254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Submodule 1: Remediation Guidance Generation</a:t>
            </a:r>
            <a:endParaRPr lang="en-US" sz="1200" dirty="0"/>
          </a:p>
          <a:p>
            <a:pPr marL="508000" lvl="1" indent="-254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Submodule 2: Markdown Report Generation + CI/CD Integration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4342" y="18288"/>
            <a:ext cx="2216506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4767" y="54864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1D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1: RAG PIPELINE — KNOWLEDGE BASE &amp; RETRIEVAL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196596" y="4663440"/>
            <a:ext cx="75895" cy="75895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92608" y="463600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of Computing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744968" y="463600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18/03/2026</a:t>
            </a:r>
            <a:endParaRPr lang="en-US" sz="850" dirty="0"/>
          </a:p>
          <a:p>
            <a:pPr marL="0" indent="0" algn="r">
              <a:buNone/>
            </a:pP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297680" y="466344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94767" y="694944"/>
            <a:ext cx="8686800" cy="388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1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RAG?
</a:t>
            </a:r>
            <a:r>
              <a:rPr lang="en-US" sz="125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Retrieval-Augmented Generation grounds LLM reasoning in a live knowledge base. Instead of relying solely on training data, the model reads freshly retrieved best-practice snippets for every query, eliminating stale recommendations and hallucinations.
</a:t>
            </a:r>
            <a:r>
              <a:rPr lang="en-US" sz="1300" b="1" dirty="0">
                <a:solidFill>
                  <a:srgbClr val="001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RAG for IaC Security?
</a:t>
            </a:r>
            <a:r>
              <a:rPr lang="en-US" sz="125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security policies change frequently. Without RAG, an LLM may recommend deprecated configurations or miss newly discovered CVEs. RAG ensures the analysis always cites current CIS Benchmark rules.
</a:t>
            </a:r>
            <a:r>
              <a:rPr lang="en-US" sz="1300" b="1" dirty="0">
                <a:solidFill>
                  <a:srgbClr val="001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Steps:
</a:t>
            </a:r>
            <a:r>
              <a:rPr lang="en-US" sz="125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— Knowledge Base Creation: </a:t>
            </a:r>
            <a:r>
              <a:rPr lang="en-US" sz="125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Security Hub CIS Benchmark PDF + GitHub CloudFormation templates. Chunked into ~500-word passages with 50-word overlap.
</a:t>
            </a:r>
            <a:r>
              <a:rPr lang="en-US" sz="125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— Embedding: </a:t>
            </a:r>
            <a:r>
              <a:rPr lang="en-US" sz="125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Titan Text Embeddings V2 → 1536-dimensional semantic vectors. Batch processing with exponential backoff on throttling.
</a:t>
            </a:r>
            <a:r>
              <a:rPr lang="en-US" sz="125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— Pinecone Vector Store: </a:t>
            </a:r>
            <a:r>
              <a:rPr lang="en-US" sz="125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Vectors indexed in Pinecone serverless with metadata (source, category, chunk_id). Index verified — document count confirmed.
</a:t>
            </a:r>
            <a:r>
              <a:rPr lang="en-US" sz="125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— Top-K Retrieval: </a:t>
            </a:r>
            <a:r>
              <a:rPr lang="en-US" sz="125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CloudFormation resource summary → Titan embedding → cosine similarity search → Top-5 relevant CIS passages returned and injected into LLM prompt.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4342" y="18288"/>
            <a:ext cx="2216506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4767" y="54864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1D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2: CLOUDFORMATION TEMPLATE PARSER &amp; NORMALISER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196596" y="4663440"/>
            <a:ext cx="75895" cy="75895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92608" y="463600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of Computing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744968" y="463600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18/03/2026</a:t>
            </a:r>
            <a:endParaRPr lang="en-US" sz="850" dirty="0"/>
          </a:p>
          <a:p>
            <a:pPr marL="0" indent="0" algn="r">
              <a:buNone/>
            </a:pP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297680" y="466344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94767" y="694944"/>
            <a:ext cx="8686800" cy="388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Handling:</a:t>
            </a:r>
            <a:endParaRPr lang="en-US" sz="1300" dirty="0"/>
          </a:p>
          <a:p>
            <a:pPr marL="508000" lvl="1" indent="-254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Accepts CloudFormation templates in both YAML and JSON formats.</a:t>
            </a:r>
            <a:endParaRPr lang="en-US" sz="1300" dirty="0"/>
          </a:p>
          <a:p>
            <a:pPr marL="508000" lvl="1" indent="-254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 intrinsic functions: !Ref, !Sub, !If, !Select, !Join, !GetAtt — replaced with safe string placeholders to prevent parser crashes.</a:t>
            </a:r>
            <a:endParaRPr lang="en-US" sz="1300" dirty="0"/>
          </a:p>
          <a:p>
            <a:pPr marL="508000" lvl="1" indent="-254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Raises descriptive ParseError for malformed or empty Resources sections.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Attribute Extraction:</a:t>
            </a:r>
            <a:endParaRPr lang="en-US" sz="1300" dirty="0"/>
          </a:p>
          <a:p>
            <a:pPr marL="508000" lvl="1" indent="-254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Buckets: BucketEncryption, PublicAccessBlockConfiguration (all 4 flags), AccessControl, VersioningConfiguration.</a:t>
            </a:r>
            <a:endParaRPr lang="en-US" sz="1300" dirty="0"/>
          </a:p>
          <a:p>
            <a:pPr marL="508000" lvl="1" indent="-254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 Roles &amp; Policies: PolicyDocument wildcard actions (*), wildcard principals, overly broad Resource fields.</a:t>
            </a:r>
            <a:endParaRPr lang="en-US" sz="1300" dirty="0"/>
          </a:p>
          <a:p>
            <a:pPr marL="508000" lvl="1" indent="-254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Groups: SecurityGroupIngress rules — flags CidrIp=0.0.0.0/0, port 22 and 3389 open to the internet.</a:t>
            </a:r>
            <a:endParaRPr lang="en-US" sz="1300" dirty="0"/>
          </a:p>
          <a:p>
            <a:pPr marL="508000" lvl="1" indent="-254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RDS Instances: StorageEncrypted, MultiAZ, PubliclyAccessible, MasterUserPassword (hardcoded vs SSM reference).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1300" dirty="0"/>
          </a:p>
          <a:p>
            <a:pPr marL="508000" lvl="1" indent="-254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Produces a plain-English resource summary (not raw YAML) with security risk signals for LLM context injection.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4342" y="18288"/>
            <a:ext cx="2216506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4767" y="54864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01D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3: VULNERABILITY DETECTION AGENT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196596" y="4663440"/>
            <a:ext cx="75895" cy="75895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92608" y="463600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of Computing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744968" y="463600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18/03/2026</a:t>
            </a:r>
            <a:endParaRPr lang="en-US" sz="850" dirty="0"/>
          </a:p>
          <a:p>
            <a:pPr marL="0" indent="0" algn="r">
              <a:buNone/>
            </a:pP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297680" y="466344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94767" y="819591"/>
            <a:ext cx="8472493" cy="35043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400"/>
              </a:spcAft>
              <a:buSzPct val="100000"/>
            </a:pP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Engineering:</a:t>
            </a:r>
            <a:endParaRPr lang="en-US" sz="1200" dirty="0"/>
          </a:p>
          <a:p>
            <a:pPr marL="508000" lvl="1" indent="-254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prompt: LLM instructed to act as an AWS security expert with domain knowledge.</a:t>
            </a:r>
            <a:endParaRPr lang="en-US" sz="1200" dirty="0"/>
          </a:p>
          <a:p>
            <a:pPr marL="508000" lvl="1" indent="-254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prompt: CloudFormation resource summary + Top-5 retrieved CIS/Well-Architected snippets injected as numbered context blocks.</a:t>
            </a:r>
            <a:endParaRPr lang="en-US" sz="1200" dirty="0"/>
          </a:p>
          <a:p>
            <a:pPr marL="508000" lvl="1" indent="-254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instruction: 'Do not hallucinate. Only flag real issues. Justify every finding against the retrieved best practices.'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Inference (Amazon Bedrock — Claude Sonnet):</a:t>
            </a:r>
            <a:endParaRPr lang="en-US" sz="1200" dirty="0"/>
          </a:p>
          <a:p>
            <a:pPr marL="508000" lvl="1" indent="-254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Bedrock invoked via boto3 converse API using Claude 3.5 Sonnet V2 / Claude Sonnet 4.x.</a:t>
            </a:r>
            <a:endParaRPr lang="en-US" sz="1200" dirty="0"/>
          </a:p>
          <a:p>
            <a:pPr marL="508000" lvl="1" indent="-254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JSON output: { vulnerabilities: [ { resource_id, resource_type, severity, title, description, evidence, remediation, confidence_score } ] }</a:t>
            </a:r>
            <a:endParaRPr lang="en-US" sz="1200" dirty="0"/>
          </a:p>
          <a:p>
            <a:pPr marL="508000" lvl="1" indent="-254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parse failure triggers one retry with a simplified prompt.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Validation:</a:t>
            </a:r>
            <a:endParaRPr lang="en-US" sz="1200" dirty="0"/>
          </a:p>
          <a:p>
            <a:pPr marL="508000" lvl="1" indent="-254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 out findings missing required fields; assigns CRITICAL/HIGH/MEDIUM/LOW severity using heuristic overrides (e.g., hardcoded secret → CRITICAL minimum).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4342" y="18288"/>
            <a:ext cx="2216506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4767" y="54864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1D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4: REMEDIATION AND REPORTING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196596" y="4663440"/>
            <a:ext cx="75895" cy="75895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92608" y="463600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of Computing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744968" y="463600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18/03/2026</a:t>
            </a:r>
            <a:endParaRPr lang="en-US" sz="850" dirty="0"/>
          </a:p>
          <a:p>
            <a:pPr marL="0" indent="0" algn="r">
              <a:buNone/>
            </a:pP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297680" y="466344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94767" y="535404"/>
            <a:ext cx="8370225" cy="35343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400"/>
              </a:spcAft>
              <a:buSzPct val="100000"/>
            </a:pP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 Classification:</a:t>
            </a:r>
            <a:endParaRPr lang="en-US" sz="1200" dirty="0"/>
          </a:p>
          <a:p>
            <a:pPr marL="508000" lvl="1" indent="-254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findings: CRITICAL / HIGH / MEDIUM / LOW using LLM output + heuristic overrides.</a:t>
            </a:r>
            <a:endParaRPr lang="en-US" sz="1200" dirty="0"/>
          </a:p>
          <a:p>
            <a:pPr marL="508000" lvl="1" indent="-254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 'hardcoded secret' → CRITICAL; 'unrestricted SSH' → HIGH minimum; 'encryption disabled' → HIGH minimum.</a:t>
            </a:r>
            <a:endParaRPr lang="en-US" sz="1200" dirty="0"/>
          </a:p>
          <a:p>
            <a:pPr marL="508000" lvl="1" indent="-254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findings highest-severity-first in the final report.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Generation:</a:t>
            </a:r>
            <a:endParaRPr lang="en-US" sz="1200" dirty="0"/>
          </a:p>
          <a:p>
            <a:pPr marL="508000" lvl="1" indent="-254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Markdown report sections: Executive Summary → Summary Table (by severity) → Detailed Findings → Remediation Checklist → References.</a:t>
            </a:r>
            <a:endParaRPr lang="en-US" sz="1200" dirty="0"/>
          </a:p>
          <a:p>
            <a:pPr marL="508000" lvl="1" indent="-254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finding includes: Evidence, Remediation step, Best-Practice reference (CIS / AWS Well-Architected).</a:t>
            </a:r>
            <a:endParaRPr lang="en-US" sz="1200" dirty="0"/>
          </a:p>
          <a:p>
            <a:pPr marL="508000" lvl="1" indent="-254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to data/reports/generated/ with timestamped filename.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Integration:</a:t>
            </a:r>
            <a:endParaRPr lang="en-US" sz="1200" dirty="0"/>
          </a:p>
          <a:p>
            <a:pPr marL="508000" lvl="1" indent="-254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codes: 0 (clean template), 1 (vulnerabilities found), 2 (scan error) — for GitHub Actions, GitLab CI, Jenkins build-gate enforcement.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4342" y="18288"/>
            <a:ext cx="2216506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4767" y="54864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1D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EXPERIMENTAL RESULTS – PREPROCESSING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196596" y="4663440"/>
            <a:ext cx="75895" cy="75895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92608" y="463600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of Computing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744968" y="463600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endParaRPr lang="en-US" sz="850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r"/>
            <a:endParaRPr lang="en-US" sz="850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r"/>
            <a:endParaRPr lang="en-US" sz="850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r"/>
            <a:endParaRPr lang="en-US" sz="850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r"/>
            <a:endParaRPr lang="en-US" sz="850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r"/>
            <a:endParaRPr lang="en-US" sz="850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r"/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18/03/2026</a:t>
            </a:r>
            <a:endParaRPr lang="en-US" sz="850" dirty="0"/>
          </a:p>
          <a:p>
            <a:pPr marL="0" indent="0" algn="r">
              <a:buNone/>
            </a:pP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297680" y="466344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8364776"/>
              </p:ext>
            </p:extLst>
          </p:nvPr>
        </p:nvGraphicFramePr>
        <p:xfrm>
          <a:off x="6650577" y="649224"/>
          <a:ext cx="2296827" cy="4282440"/>
        </p:xfrm>
        <a:graphic>
          <a:graphicData uri="http://schemas.openxmlformats.org/drawingml/2006/table">
            <a:tbl>
              <a:tblPr/>
              <a:tblGrid>
                <a:gridCol w="11637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31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64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Knowledge Sources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D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CIS Benchmark PDF + GitHub IaC Templates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7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Document Chunks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D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~150–200 passages (~500 words each)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4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Embedding Model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D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Amazon Titan Text Embeddings V2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4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Dimensions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D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1536-dimensional vectors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4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Vector Store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D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Pinecone (serverless index)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1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Index Status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D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Created and verified 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64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Query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D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Executed — relevant results returned 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64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Retrieval Top-K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D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 = 5 (configurable via .env)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2C7254F3-886F-52F0-9F72-6FC35EEC09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596" y="751972"/>
            <a:ext cx="6060044" cy="329514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4342" y="18288"/>
            <a:ext cx="2216506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4767" y="54864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1D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EXPERIMENTAL RESULTS – MODULE 1 (RAG END-TO-END QUERY TEST)</a:t>
            </a:r>
            <a:endParaRPr lang="en-US" sz="1700" dirty="0"/>
          </a:p>
        </p:txBody>
      </p:sp>
      <p:sp>
        <p:nvSpPr>
          <p:cNvPr id="4" name="Shape 1"/>
          <p:cNvSpPr/>
          <p:nvPr/>
        </p:nvSpPr>
        <p:spPr>
          <a:xfrm>
            <a:off x="196596" y="4762652"/>
            <a:ext cx="75895" cy="75895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72491" y="472569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of Computing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744968" y="463600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endParaRPr lang="en-US" sz="850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r"/>
            <a:endParaRPr lang="en-US" sz="850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r"/>
            <a:endParaRPr lang="en-US" sz="850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r"/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18/03/2026</a:t>
            </a:r>
            <a:endParaRPr lang="en-US" sz="850" dirty="0"/>
          </a:p>
          <a:p>
            <a:pPr marL="0" indent="0" algn="r">
              <a:buNone/>
            </a:pP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297680" y="466344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94767" y="69494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Input :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86207" y="969264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434840" y="12893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4983480" y="694944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Retrieved CIS Benchmark Passages: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074920" y="969264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286207" y="2203704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663440" y="2203704"/>
            <a:ext cx="4114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2754" y="3666744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Status: </a:t>
            </a: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pipeline fully functional. End-to-end tested: CloudFormation template → Titan V2 embedding → Pinecone retrieval → Top-5 CIS passages returned. Ready for integration with Bedrock Claude Sonnet (Module 3).</a:t>
            </a:r>
            <a:endParaRPr lang="en-US" sz="11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2C8E29E-E092-B9B4-7CED-A3DB864A3E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" y="984809"/>
            <a:ext cx="4331513" cy="223028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C43DE04-83A6-997E-EFEF-9A6A6B87D3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1005841"/>
            <a:ext cx="4676983" cy="216255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A48820-006D-3872-AD12-5077D3B7E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B4B31385-C2AA-BEE9-00B6-F8E84D900E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4342" y="18288"/>
            <a:ext cx="2216506" cy="59436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972E0398-F7C3-2D8F-E8AE-7E6AD35B359A}"/>
              </a:ext>
            </a:extLst>
          </p:cNvPr>
          <p:cNvSpPr/>
          <p:nvPr/>
        </p:nvSpPr>
        <p:spPr>
          <a:xfrm>
            <a:off x="194767" y="104193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1D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EXPERIMENTAL RESULTS – MODULE 2 (Vulnerability Detection)</a:t>
            </a:r>
            <a:endParaRPr lang="en-US" sz="170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EC7DD50D-8B1D-6934-FE2F-9E2B1DD9CB99}"/>
              </a:ext>
            </a:extLst>
          </p:cNvPr>
          <p:cNvSpPr/>
          <p:nvPr/>
        </p:nvSpPr>
        <p:spPr>
          <a:xfrm>
            <a:off x="196596" y="4762652"/>
            <a:ext cx="75895" cy="75895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E92AA52-C04E-C073-2933-CFFBE879C6FA}"/>
              </a:ext>
            </a:extLst>
          </p:cNvPr>
          <p:cNvSpPr/>
          <p:nvPr/>
        </p:nvSpPr>
        <p:spPr>
          <a:xfrm>
            <a:off x="272491" y="472569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of Computing</a:t>
            </a:r>
            <a:endParaRPr lang="en-US" sz="85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29101FB-113D-3C4C-3C63-D866145B9C96}"/>
              </a:ext>
            </a:extLst>
          </p:cNvPr>
          <p:cNvSpPr/>
          <p:nvPr/>
        </p:nvSpPr>
        <p:spPr>
          <a:xfrm>
            <a:off x="7744968" y="463600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endParaRPr lang="en-US" sz="850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r"/>
            <a:endParaRPr lang="en-US" sz="850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r"/>
            <a:endParaRPr lang="en-US" sz="850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r"/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18/03/2026</a:t>
            </a:r>
            <a:endParaRPr lang="en-US" sz="850" dirty="0"/>
          </a:p>
          <a:p>
            <a:pPr marL="0" indent="0" algn="r">
              <a:buNone/>
            </a:pPr>
            <a:endParaRPr lang="en-US" sz="85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67957199-02DE-5354-E2A0-2BE4021D419F}"/>
              </a:ext>
            </a:extLst>
          </p:cNvPr>
          <p:cNvSpPr/>
          <p:nvPr/>
        </p:nvSpPr>
        <p:spPr>
          <a:xfrm>
            <a:off x="4297680" y="466344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D6864B2B-8253-1E83-ACBB-3E9D2C40CF6A}"/>
              </a:ext>
            </a:extLst>
          </p:cNvPr>
          <p:cNvSpPr/>
          <p:nvPr/>
        </p:nvSpPr>
        <p:spPr>
          <a:xfrm>
            <a:off x="286207" y="969264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6F46498-55B6-6D09-4F81-228D3514136C}"/>
              </a:ext>
            </a:extLst>
          </p:cNvPr>
          <p:cNvSpPr/>
          <p:nvPr/>
        </p:nvSpPr>
        <p:spPr>
          <a:xfrm>
            <a:off x="4434840" y="12893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71F9BAD0-D5F0-B4AD-A69A-EDE18BDA6772}"/>
              </a:ext>
            </a:extLst>
          </p:cNvPr>
          <p:cNvSpPr/>
          <p:nvPr/>
        </p:nvSpPr>
        <p:spPr>
          <a:xfrm>
            <a:off x="4983480" y="694944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1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63AAF2C0-99E1-A56A-7EC9-1CF4D2E15687}"/>
              </a:ext>
            </a:extLst>
          </p:cNvPr>
          <p:cNvSpPr/>
          <p:nvPr/>
        </p:nvSpPr>
        <p:spPr>
          <a:xfrm>
            <a:off x="5074920" y="969264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BAD8F136-9B78-AE72-FDC8-B9C2AAD27415}"/>
              </a:ext>
            </a:extLst>
          </p:cNvPr>
          <p:cNvSpPr/>
          <p:nvPr/>
        </p:nvSpPr>
        <p:spPr>
          <a:xfrm>
            <a:off x="286207" y="2203704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570D6E96-175A-045D-73F9-4F2641AC912D}"/>
              </a:ext>
            </a:extLst>
          </p:cNvPr>
          <p:cNvSpPr/>
          <p:nvPr/>
        </p:nvSpPr>
        <p:spPr>
          <a:xfrm>
            <a:off x="4663440" y="2203704"/>
            <a:ext cx="4114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45F8BE-E625-5C41-0CAC-B0AFF7453D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195" y="780849"/>
            <a:ext cx="8580731" cy="3351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5679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0F3CAA-983C-183D-5F15-B6689FD4E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7E54F343-E71E-3F8B-82D1-9ED3118AC2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4342" y="18288"/>
            <a:ext cx="2216506" cy="59436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5299A1D3-9811-6C1F-70FB-D2E9A88CD34B}"/>
              </a:ext>
            </a:extLst>
          </p:cNvPr>
          <p:cNvSpPr/>
          <p:nvPr/>
        </p:nvSpPr>
        <p:spPr>
          <a:xfrm>
            <a:off x="194767" y="104193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1D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EXPERIMENTAL RESULTS – MODULE 3 (Report Generation)</a:t>
            </a:r>
            <a:endParaRPr lang="en-US" sz="170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A0643521-CE72-1502-EDC2-A33C8FA207B5}"/>
              </a:ext>
            </a:extLst>
          </p:cNvPr>
          <p:cNvSpPr/>
          <p:nvPr/>
        </p:nvSpPr>
        <p:spPr>
          <a:xfrm>
            <a:off x="196596" y="4762652"/>
            <a:ext cx="75895" cy="75895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80107EEA-FCAF-109C-4A6D-6D8031EF6D9E}"/>
              </a:ext>
            </a:extLst>
          </p:cNvPr>
          <p:cNvSpPr/>
          <p:nvPr/>
        </p:nvSpPr>
        <p:spPr>
          <a:xfrm>
            <a:off x="272491" y="472569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of Computing</a:t>
            </a:r>
            <a:endParaRPr lang="en-US" sz="85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4BDA72E-1C56-3B0E-3B84-45A3E3C24A6F}"/>
              </a:ext>
            </a:extLst>
          </p:cNvPr>
          <p:cNvSpPr/>
          <p:nvPr/>
        </p:nvSpPr>
        <p:spPr>
          <a:xfrm>
            <a:off x="7744968" y="463600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endParaRPr lang="en-US" sz="850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r"/>
            <a:endParaRPr lang="en-US" sz="850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r"/>
            <a:endParaRPr lang="en-US" sz="850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r"/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18/03/2026</a:t>
            </a:r>
            <a:endParaRPr lang="en-US" sz="850" dirty="0"/>
          </a:p>
          <a:p>
            <a:pPr marL="0" indent="0" algn="r">
              <a:buNone/>
            </a:pPr>
            <a:endParaRPr lang="en-US" sz="85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B9706EE5-CEC3-A98A-7BCF-CA684F483B92}"/>
              </a:ext>
            </a:extLst>
          </p:cNvPr>
          <p:cNvSpPr/>
          <p:nvPr/>
        </p:nvSpPr>
        <p:spPr>
          <a:xfrm>
            <a:off x="4297680" y="466344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E9BB33F-5BC5-4AB5-7016-03AE8DAFBD52}"/>
              </a:ext>
            </a:extLst>
          </p:cNvPr>
          <p:cNvSpPr/>
          <p:nvPr/>
        </p:nvSpPr>
        <p:spPr>
          <a:xfrm>
            <a:off x="286207" y="969264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43F153D4-A397-01DF-DC77-C74C2C8F429D}"/>
              </a:ext>
            </a:extLst>
          </p:cNvPr>
          <p:cNvSpPr/>
          <p:nvPr/>
        </p:nvSpPr>
        <p:spPr>
          <a:xfrm>
            <a:off x="4434840" y="12893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E12D9234-CAB7-1E0B-6B50-D7721FD0B48C}"/>
              </a:ext>
            </a:extLst>
          </p:cNvPr>
          <p:cNvSpPr/>
          <p:nvPr/>
        </p:nvSpPr>
        <p:spPr>
          <a:xfrm>
            <a:off x="4983480" y="694944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1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F085710F-EF23-D4F9-6DEE-522112BF5C71}"/>
              </a:ext>
            </a:extLst>
          </p:cNvPr>
          <p:cNvSpPr/>
          <p:nvPr/>
        </p:nvSpPr>
        <p:spPr>
          <a:xfrm>
            <a:off x="5074920" y="969264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E0ABD39C-1327-2F3C-F6EC-8B48E3D9570A}"/>
              </a:ext>
            </a:extLst>
          </p:cNvPr>
          <p:cNvSpPr/>
          <p:nvPr/>
        </p:nvSpPr>
        <p:spPr>
          <a:xfrm>
            <a:off x="4663440" y="2203704"/>
            <a:ext cx="4114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A7F8513-9F50-2FBF-7B74-82EB592B36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715" y="612648"/>
            <a:ext cx="6781696" cy="3855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1684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C4F855-6164-4A06-C00E-4E8E0A41D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ED7EBFDD-8496-8ACB-875A-81BF8AEDC0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4342" y="18288"/>
            <a:ext cx="2216506" cy="59436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0F24DDAF-AC03-14A7-36CB-FE3F68F2B566}"/>
              </a:ext>
            </a:extLst>
          </p:cNvPr>
          <p:cNvSpPr/>
          <p:nvPr/>
        </p:nvSpPr>
        <p:spPr>
          <a:xfrm>
            <a:off x="194767" y="187738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1D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Evaluation results across 10 CloudFormation Templates</a:t>
            </a:r>
            <a:endParaRPr lang="en-US" sz="170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FBEF58BF-7220-BBA4-AE95-B3A1F9667027}"/>
              </a:ext>
            </a:extLst>
          </p:cNvPr>
          <p:cNvSpPr/>
          <p:nvPr/>
        </p:nvSpPr>
        <p:spPr>
          <a:xfrm>
            <a:off x="196596" y="4762652"/>
            <a:ext cx="75895" cy="75895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2DCD34F-7C78-3810-15DA-5141D783F0FD}"/>
              </a:ext>
            </a:extLst>
          </p:cNvPr>
          <p:cNvSpPr/>
          <p:nvPr/>
        </p:nvSpPr>
        <p:spPr>
          <a:xfrm>
            <a:off x="272491" y="472569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of Computing</a:t>
            </a:r>
            <a:endParaRPr lang="en-US" sz="85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6F72017-5D59-B81E-6E68-F2074F114FB8}"/>
              </a:ext>
            </a:extLst>
          </p:cNvPr>
          <p:cNvSpPr/>
          <p:nvPr/>
        </p:nvSpPr>
        <p:spPr>
          <a:xfrm>
            <a:off x="7744968" y="463600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endParaRPr lang="en-US" sz="850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r"/>
            <a:endParaRPr lang="en-US" sz="850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r"/>
            <a:endParaRPr lang="en-US" sz="850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r"/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18/03/2026</a:t>
            </a:r>
            <a:endParaRPr lang="en-US" sz="850" dirty="0"/>
          </a:p>
          <a:p>
            <a:pPr marL="0" indent="0" algn="r">
              <a:buNone/>
            </a:pPr>
            <a:endParaRPr lang="en-US" sz="85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B165483-19D4-13DF-E489-9DFAC0634360}"/>
              </a:ext>
            </a:extLst>
          </p:cNvPr>
          <p:cNvSpPr/>
          <p:nvPr/>
        </p:nvSpPr>
        <p:spPr>
          <a:xfrm>
            <a:off x="4297680" y="466344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29A053AD-3F63-333B-7427-ABE00AFF741C}"/>
              </a:ext>
            </a:extLst>
          </p:cNvPr>
          <p:cNvSpPr/>
          <p:nvPr/>
        </p:nvSpPr>
        <p:spPr>
          <a:xfrm>
            <a:off x="286207" y="969264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20233C49-8B3F-E115-611C-CE5BE6DC954A}"/>
              </a:ext>
            </a:extLst>
          </p:cNvPr>
          <p:cNvSpPr/>
          <p:nvPr/>
        </p:nvSpPr>
        <p:spPr>
          <a:xfrm>
            <a:off x="4434840" y="12893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9881BF9B-CBD4-02CF-868E-B12E8106D262}"/>
              </a:ext>
            </a:extLst>
          </p:cNvPr>
          <p:cNvSpPr/>
          <p:nvPr/>
        </p:nvSpPr>
        <p:spPr>
          <a:xfrm>
            <a:off x="4983480" y="694944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1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D72AFDDB-D33B-3403-3378-41678CF491BC}"/>
              </a:ext>
            </a:extLst>
          </p:cNvPr>
          <p:cNvSpPr/>
          <p:nvPr/>
        </p:nvSpPr>
        <p:spPr>
          <a:xfrm>
            <a:off x="5074920" y="969264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41AB72C-D200-C841-606E-CC4BAFEA5B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1052132"/>
            <a:ext cx="8674913" cy="2074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8577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4342" y="18288"/>
            <a:ext cx="2216506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4767" y="54864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1D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196596" y="4663440"/>
            <a:ext cx="75895" cy="75895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92608" y="463600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of Computing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744968" y="463600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18/03/2026</a:t>
            </a:r>
            <a:endParaRPr lang="en-US" sz="850" dirty="0"/>
          </a:p>
          <a:p>
            <a:pPr marL="0" indent="0" algn="r">
              <a:buNone/>
            </a:pP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297680" y="466344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94767" y="694944"/>
            <a:ext cx="8686800" cy="388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Toprani, D., &amp; Madisetti, V. K. (2025). LLM Agentic Workflow for Automated Vulnerability Detection and Remediation in Infrastructure-as-Code. IEEE Access, vol. 13, pp. 69175–69181. DOI: 10.1109/ACCESS.2025.3560911</a:t>
            </a:r>
            <a:endParaRPr lang="en-US" sz="10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Lian, X., Chen, Y., Cheng, R., Huang, J., Thakkar, P., Zhang, M., &amp; Xu, T. (2023). Configuration Validation with Large Language Models. arXiv preprint arXiv:2310.09690.</a:t>
            </a:r>
            <a:endParaRPr lang="en-US" sz="10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Saavedra, N., &amp; Ferreira, J. F. (2022). GLITCH: Automated Polyglot Security Smell Detection in Infrastructure as Code. Proc. 37th IEEE/ACM ASE, pp. 1–12.</a:t>
            </a:r>
            <a:endParaRPr lang="en-US" sz="10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Malul, E., Meidan, Y., Mimran, D., Elovici, Y., &amp; Shabtai, A. (2024). GenKubeSec: LLM-Based Kubernetes Misconfiguration Detection, Localization, Reasoning, and Remediation. arXiv:2405.19954.</a:t>
            </a:r>
            <a:endParaRPr lang="en-US" sz="10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Ullah, S., Han, M., Pujar, S., Pearce, H., Coskun, A., &amp; Stringhini, G. (2024). LLMs Cannot Reliably Identify and Reason About Security Vulnerabilities (Yet?). IEEE Symposium on Security and Privacy (SP), pp. 862–880.</a:t>
            </a:r>
            <a:endParaRPr lang="en-US" sz="10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Minna, F., Massacci, F., &amp; Tuma, K. (2024). Analyzing and Mitigating Security Misconfigurations of Helm Charts from Artifact Hub. arXiv:2403.09537.</a:t>
            </a:r>
            <a:endParaRPr lang="en-US" sz="10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 AWS Well-Architected Framework — Security Pillar. Amazon Web Services, 2024. https://docs.aws.amazon.com/wellarchitected/latest/framework/welcome.html</a:t>
            </a:r>
            <a:endParaRPr lang="en-US" sz="10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 CIS Benchmarks for Amazon Web Services. Center for Internet Security, 2024. https://www.cisecurity.org/cis-benchmarks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4342" y="18288"/>
            <a:ext cx="2216506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173736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01D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4" name="Shape 1"/>
          <p:cNvSpPr/>
          <p:nvPr/>
        </p:nvSpPr>
        <p:spPr>
          <a:xfrm>
            <a:off x="196596" y="4663440"/>
            <a:ext cx="75895" cy="75895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92608" y="463600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of Computing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744968" y="463600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18/03/2026</a:t>
            </a:r>
            <a:endParaRPr lang="en-US" sz="850" dirty="0"/>
          </a:p>
          <a:p>
            <a:pPr marL="0" indent="0" algn="r"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3042</Words>
  <Application>Microsoft Office PowerPoint</Application>
  <PresentationFormat>On-screen Show (16:9)</PresentationFormat>
  <Paragraphs>394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LLM-Based IaC Security Scanner – First Review</dc:title>
  <dc:subject>PptxGenJS Presentation</dc:subject>
  <dc:creator>PptxGenJS</dc:creator>
  <cp:lastModifiedBy>SOM S</cp:lastModifiedBy>
  <cp:revision>16</cp:revision>
  <dcterms:created xsi:type="dcterms:W3CDTF">2026-03-17T19:21:06Z</dcterms:created>
  <dcterms:modified xsi:type="dcterms:W3CDTF">2026-04-16T08:36:38Z</dcterms:modified>
</cp:coreProperties>
</file>