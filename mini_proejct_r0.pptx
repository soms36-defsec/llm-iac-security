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PT Serif" panose="020A0603040505020204" pitchFamily="18" charset="0"/>
      <p:regular r:id="rId17"/>
      <p:bold r:id="rId18"/>
      <p:boldItalic r:id="rId19"/>
    </p:embeddedFont>
    <p:embeddedFont>
      <p:font typeface="Roboto" panose="02000000000000000000" pitchFamily="2" charset="0"/>
      <p:regular r:id="rId20"/>
      <p:bold r:id="rId21"/>
      <p:italic r:id="rId22"/>
      <p:boldItalic r:id="rId23"/>
    </p:embeddedFont>
    <p:embeddedFont>
      <p:font typeface="Times" panose="02020603050405020304" pitchFamily="18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8F6EF29-835F-4B49-82F7-B1459D2458D8}">
  <a:tblStyle styleId="{18F6EF29-835F-4B49-82F7-B1459D2458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4" d="100"/>
          <a:sy n="54" d="100"/>
        </p:scale>
        <p:origin x="754" y="2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5:notes"/>
          <p:cNvSpPr>
            <a:spLocks noGrp="1" noRot="1" noChangeAspect="1"/>
          </p:cNvSpPr>
          <p:nvPr>
            <p:ph type="sldImg" idx="3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8" name="Google Shape;158;p5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  <p:sp>
        <p:nvSpPr>
          <p:cNvPr id="159" name="Google Shape;159;p5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4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:notes"/>
          <p:cNvSpPr txBox="1">
            <a:spLocks noGrp="1"/>
          </p:cNvSpPr>
          <p:nvPr>
            <p:ph type="dt" idx="10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8" name="Google Shape;308;p14:notes"/>
          <p:cNvSpPr>
            <a:spLocks noGrp="1" noRot="1" noChangeAspect="1"/>
          </p:cNvSpPr>
          <p:nvPr>
            <p:ph type="sldImg" idx="3"/>
          </p:nvPr>
        </p:nvSpPr>
        <p:spPr>
          <a:xfrm>
            <a:off x="2857500" y="512763"/>
            <a:ext cx="3429000" cy="25669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4:notes"/>
          <p:cNvSpPr txBox="1">
            <a:spLocks noGrp="1"/>
          </p:cNvSpPr>
          <p:nvPr>
            <p:ph type="body" idx="1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14</a:t>
            </a:r>
            <a:endParaRPr/>
          </a:p>
        </p:txBody>
      </p:sp>
      <p:sp>
        <p:nvSpPr>
          <p:cNvPr id="310" name="Google Shape;310;p14:notes"/>
          <p:cNvSpPr txBox="1">
            <a:spLocks noGrp="1"/>
          </p:cNvSpPr>
          <p:nvPr>
            <p:ph type="ftr" idx="11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:notes"/>
          <p:cNvSpPr txBox="1">
            <a:spLocks noGrp="1"/>
          </p:cNvSpPr>
          <p:nvPr>
            <p:ph type="sldNum" idx="12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0965635&amp;isnumber=1082012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>
            <a:off x="14401800" y="228602"/>
            <a:ext cx="3498247" cy="2052352"/>
          </a:xfrm>
          <a:custGeom>
            <a:avLst/>
            <a:gdLst/>
            <a:ahLst/>
            <a:cxnLst/>
            <a:rect l="l" t="t" r="r" b="b"/>
            <a:pathLst>
              <a:path w="4664329" h="2736469" extrusionOk="0">
                <a:moveTo>
                  <a:pt x="0" y="0"/>
                </a:moveTo>
                <a:lnTo>
                  <a:pt x="4664329" y="0"/>
                </a:lnTo>
                <a:lnTo>
                  <a:pt x="4664329" y="2736469"/>
                </a:lnTo>
                <a:lnTo>
                  <a:pt x="0" y="273646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94" name="Google Shape;94;p13"/>
          <p:cNvGrpSpPr/>
          <p:nvPr/>
        </p:nvGrpSpPr>
        <p:grpSpPr>
          <a:xfrm>
            <a:off x="161077" y="52167"/>
            <a:ext cx="17959134" cy="10055635"/>
            <a:chOff x="0" y="-38100"/>
            <a:chExt cx="4729978" cy="2648398"/>
          </a:xfrm>
        </p:grpSpPr>
        <p:sp>
          <p:nvSpPr>
            <p:cNvPr id="95" name="Google Shape;95;p13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6" name="Google Shape;96;p13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3"/>
          <p:cNvGrpSpPr/>
          <p:nvPr/>
        </p:nvGrpSpPr>
        <p:grpSpPr>
          <a:xfrm>
            <a:off x="2628900" y="7596031"/>
            <a:ext cx="13030200" cy="2156746"/>
            <a:chOff x="0" y="0"/>
            <a:chExt cx="17373600" cy="2875661"/>
          </a:xfrm>
        </p:grpSpPr>
        <p:sp>
          <p:nvSpPr>
            <p:cNvPr id="98" name="Google Shape;98;p13"/>
            <p:cNvSpPr/>
            <p:nvPr/>
          </p:nvSpPr>
          <p:spPr>
            <a:xfrm>
              <a:off x="0" y="0"/>
              <a:ext cx="17373600" cy="2875661"/>
            </a:xfrm>
            <a:custGeom>
              <a:avLst/>
              <a:gdLst/>
              <a:ahLst/>
              <a:cxnLst/>
              <a:rect l="l" t="t" r="r" b="b"/>
              <a:pathLst>
                <a:path w="17373600" h="2875661" extrusionOk="0">
                  <a:moveTo>
                    <a:pt x="0" y="0"/>
                  </a:moveTo>
                  <a:lnTo>
                    <a:pt x="17373600" y="0"/>
                  </a:lnTo>
                  <a:lnTo>
                    <a:pt x="17373600" y="2875661"/>
                  </a:lnTo>
                  <a:lnTo>
                    <a:pt x="0" y="28756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9" name="Google Shape;99;p13"/>
            <p:cNvSpPr txBox="1"/>
            <p:nvPr/>
          </p:nvSpPr>
          <p:spPr>
            <a:xfrm>
              <a:off x="0" y="0"/>
              <a:ext cx="17373600" cy="28756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i="0" u="none" strike="noStrike" cap="none">
                  <a:solidFill>
                    <a:srgbClr val="C00000"/>
                  </a:solidFill>
                  <a:latin typeface="PT Serif"/>
                  <a:ea typeface="PT Serif"/>
                  <a:cs typeface="PT Serif"/>
                  <a:sym typeface="PT Serif"/>
                </a:rPr>
                <a:t>Guided By,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1" i="0" u="none" strike="noStrike" cap="none">
                  <a:solidFill>
                    <a:srgbClr val="002060"/>
                  </a:solidFill>
                  <a:latin typeface="PT Serif"/>
                  <a:ea typeface="PT Serif"/>
                  <a:cs typeface="PT Serif"/>
                  <a:sym typeface="PT Serif"/>
                </a:rPr>
                <a:t>Dr.R.Alageswaran</a:t>
              </a:r>
              <a:endParaRPr/>
            </a:p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330" b="0" i="0" u="none" strike="noStrike" cap="none">
                  <a:solidFill>
                    <a:srgbClr val="FFFF00"/>
                  </a:solidFill>
                  <a:latin typeface="PT Serif"/>
                  <a:ea typeface="PT Serif"/>
                  <a:cs typeface="PT Serif"/>
                  <a:sym typeface="PT Serif"/>
                </a:rPr>
                <a:t> </a:t>
              </a:r>
              <a:r>
                <a:rPr lang="en-US" sz="3330" b="1" i="1" u="none" strike="noStrike" cap="none">
                  <a:solidFill>
                    <a:srgbClr val="C00000"/>
                  </a:solidFill>
                  <a:latin typeface="PT Serif"/>
                  <a:ea typeface="PT Serif"/>
                  <a:cs typeface="PT Serif"/>
                  <a:sym typeface="PT Serif"/>
                </a:rPr>
                <a:t>Associate Dean-Student welfare &amp; Professor , School of Computing</a:t>
              </a:r>
              <a:endParaRPr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01" name="Google Shape;101;p13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02" name="Google Shape;102;p13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03" name="Google Shape;103;p13"/>
          <p:cNvSpPr/>
          <p:nvPr/>
        </p:nvSpPr>
        <p:spPr>
          <a:xfrm>
            <a:off x="2602118" y="653707"/>
            <a:ext cx="13084230" cy="2935774"/>
          </a:xfrm>
          <a:custGeom>
            <a:avLst/>
            <a:gdLst/>
            <a:ahLst/>
            <a:cxnLst/>
            <a:rect l="l" t="t" r="r" b="b"/>
            <a:pathLst>
              <a:path w="13084230" h="2935774" extrusionOk="0">
                <a:moveTo>
                  <a:pt x="0" y="0"/>
                </a:moveTo>
                <a:lnTo>
                  <a:pt x="13084230" y="0"/>
                </a:lnTo>
                <a:lnTo>
                  <a:pt x="13084230" y="2935774"/>
                </a:lnTo>
                <a:lnTo>
                  <a:pt x="0" y="29357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13"/>
          <p:cNvSpPr txBox="1"/>
          <p:nvPr/>
        </p:nvSpPr>
        <p:spPr>
          <a:xfrm>
            <a:off x="1028700" y="3837131"/>
            <a:ext cx="16230600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185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Agentic Workflow for Automated Vulnerability Detection and Remediation in Infrastructure-as-Code</a:t>
            </a:r>
            <a:endParaRPr sz="5033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6089625" y="5728947"/>
            <a:ext cx="6109216" cy="974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127003252  Someshwar S</a:t>
            </a:r>
            <a:endParaRPr/>
          </a:p>
          <a:p>
            <a:pPr marL="0" marR="0" lvl="0" indent="0" algn="just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99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127003056  Dhanvanth V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11" name="Google Shape;111;p14"/>
          <p:cNvGrpSpPr/>
          <p:nvPr/>
        </p:nvGrpSpPr>
        <p:grpSpPr>
          <a:xfrm>
            <a:off x="170602" y="52167"/>
            <a:ext cx="17959134" cy="10055635"/>
            <a:chOff x="0" y="-38100"/>
            <a:chExt cx="4729978" cy="2648398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4"/>
          <p:cNvGrpSpPr/>
          <p:nvPr/>
        </p:nvGrpSpPr>
        <p:grpSpPr>
          <a:xfrm>
            <a:off x="392782" y="281204"/>
            <a:ext cx="15544800" cy="1242526"/>
            <a:chOff x="0" y="-123825"/>
            <a:chExt cx="20726400" cy="1656701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20726400" cy="1532876"/>
            </a:xfrm>
            <a:custGeom>
              <a:avLst/>
              <a:gdLst/>
              <a:ahLst/>
              <a:cxnLst/>
              <a:rect l="l" t="t" r="r" b="b"/>
              <a:pathLst>
                <a:path w="20726400" h="1532876" extrusionOk="0">
                  <a:moveTo>
                    <a:pt x="0" y="0"/>
                  </a:moveTo>
                  <a:lnTo>
                    <a:pt x="20726400" y="0"/>
                  </a:lnTo>
                  <a:lnTo>
                    <a:pt x="20726400" y="1532876"/>
                  </a:lnTo>
                  <a:lnTo>
                    <a:pt x="0" y="15328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123825"/>
              <a:ext cx="20726400" cy="1656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i="0" u="none" strike="noStrike" cap="none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LAYOUT OF THIS PRESENTATION</a:t>
              </a:r>
              <a:endParaRPr/>
            </a:p>
          </p:txBody>
        </p:sp>
      </p:grpSp>
      <p:grpSp>
        <p:nvGrpSpPr>
          <p:cNvPr id="117" name="Google Shape;117;p14"/>
          <p:cNvGrpSpPr/>
          <p:nvPr/>
        </p:nvGrpSpPr>
        <p:grpSpPr>
          <a:xfrm>
            <a:off x="1028700" y="2821814"/>
            <a:ext cx="9784732" cy="4564791"/>
            <a:chOff x="0" y="-104775"/>
            <a:chExt cx="13046308" cy="6086389"/>
          </a:xfrm>
        </p:grpSpPr>
        <p:sp>
          <p:nvSpPr>
            <p:cNvPr id="118" name="Google Shape;118;p14"/>
            <p:cNvSpPr/>
            <p:nvPr/>
          </p:nvSpPr>
          <p:spPr>
            <a:xfrm>
              <a:off x="0" y="0"/>
              <a:ext cx="13046308" cy="5981614"/>
            </a:xfrm>
            <a:custGeom>
              <a:avLst/>
              <a:gdLst/>
              <a:ahLst/>
              <a:cxnLst/>
              <a:rect l="l" t="t" r="r" b="b"/>
              <a:pathLst>
                <a:path w="13046308" h="5981614" extrusionOk="0">
                  <a:moveTo>
                    <a:pt x="0" y="0"/>
                  </a:moveTo>
                  <a:lnTo>
                    <a:pt x="13046308" y="0"/>
                  </a:lnTo>
                  <a:lnTo>
                    <a:pt x="13046308" y="5981614"/>
                  </a:lnTo>
                  <a:lnTo>
                    <a:pt x="0" y="598161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9" name="Google Shape;119;p14"/>
            <p:cNvSpPr txBox="1"/>
            <p:nvPr/>
          </p:nvSpPr>
          <p:spPr>
            <a:xfrm>
              <a:off x="0" y="-104775"/>
              <a:ext cx="13046307" cy="60863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977257" marR="0" lvl="1" indent="-488628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Abstract</a:t>
              </a:r>
              <a:endParaRPr/>
            </a:p>
            <a:p>
              <a:pPr marL="977257" marR="0" lvl="1" indent="-488628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Introduction</a:t>
              </a:r>
              <a:endParaRPr/>
            </a:p>
            <a:p>
              <a:pPr marL="977257" marR="0" lvl="1" indent="-488628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Objective</a:t>
              </a:r>
              <a:endParaRPr/>
            </a:p>
            <a:p>
              <a:pPr marL="977257" marR="0" lvl="1" indent="-488628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Base Paper</a:t>
              </a:r>
              <a:endParaRPr/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Problem Statement</a:t>
              </a:r>
              <a:endParaRPr/>
            </a:p>
          </p:txBody>
        </p:sp>
      </p:grpSp>
      <p:grpSp>
        <p:nvGrpSpPr>
          <p:cNvPr id="120" name="Google Shape;120;p14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21" name="Google Shape;121;p14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22" name="Google Shape;122;p14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123" name="Google Shape;123;p14"/>
          <p:cNvGrpSpPr/>
          <p:nvPr/>
        </p:nvGrpSpPr>
        <p:grpSpPr>
          <a:xfrm>
            <a:off x="8680104" y="2352457"/>
            <a:ext cx="8936135" cy="5421118"/>
            <a:chOff x="0" y="-730584"/>
            <a:chExt cx="11914846" cy="7228156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11914846" cy="6497572"/>
            </a:xfrm>
            <a:custGeom>
              <a:avLst/>
              <a:gdLst/>
              <a:ahLst/>
              <a:cxnLst/>
              <a:rect l="l" t="t" r="r" b="b"/>
              <a:pathLst>
                <a:path w="11914846" h="6497572" extrusionOk="0">
                  <a:moveTo>
                    <a:pt x="0" y="0"/>
                  </a:moveTo>
                  <a:lnTo>
                    <a:pt x="11914846" y="0"/>
                  </a:lnTo>
                  <a:lnTo>
                    <a:pt x="11914846" y="6497572"/>
                  </a:lnTo>
                  <a:lnTo>
                    <a:pt x="0" y="64975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0" y="-730584"/>
              <a:ext cx="11914846" cy="66023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Literature survey</a:t>
              </a:r>
              <a:endParaRPr dirty="0"/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Architectural diagram</a:t>
              </a:r>
              <a:endParaRPr dirty="0"/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Modules</a:t>
              </a:r>
              <a:endParaRPr dirty="0"/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Conclusion</a:t>
              </a:r>
              <a:endParaRPr dirty="0"/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b="0" i="0" u="none" strike="noStrike" cap="none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References</a:t>
              </a:r>
            </a:p>
            <a:p>
              <a:pPr marL="976571" marR="0" lvl="1" indent="-488286" algn="l" rtl="0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399"/>
                <a:buFont typeface="Arial"/>
                <a:buChar char="•"/>
              </a:pPr>
              <a:r>
                <a:rPr lang="en-US" sz="5399" dirty="0">
                  <a:latin typeface="Times New Roman"/>
                  <a:cs typeface="Times New Roman"/>
                  <a:sym typeface="Times New Roman"/>
                </a:rPr>
                <a:t>Code and Dataset</a:t>
              </a:r>
              <a:endParaRPr dirty="0"/>
            </a:p>
          </p:txBody>
        </p:sp>
      </p:grpSp>
      <p:sp>
        <p:nvSpPr>
          <p:cNvPr id="126" name="Google Shape;126;p1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27" name="Google Shape;127;p14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971550" y="115269"/>
            <a:ext cx="13442738" cy="1017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>
                <a:solidFill>
                  <a:srgbClr val="001D58"/>
                </a:solidFill>
                <a:latin typeface="Times"/>
                <a:ea typeface="Times"/>
                <a:cs typeface="Times"/>
                <a:sym typeface="Times"/>
              </a:rPr>
              <a:t>ABSTRACT</a:t>
            </a:r>
            <a:endParaRPr dirty="0"/>
          </a:p>
        </p:txBody>
      </p:sp>
      <p:grpSp>
        <p:nvGrpSpPr>
          <p:cNvPr id="133" name="Google Shape;133;p15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34" name="Google Shape;134;p15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35" name="Google Shape;135;p15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136" name="Google Shape;136;p15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7" name="Google Shape;137;p15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 flipH="1">
            <a:off x="971550" y="1572983"/>
            <a:ext cx="17040000" cy="67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rapid growth of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Infrastructure-as-Code (</a:t>
            </a:r>
            <a:r>
              <a:rPr lang="en-US" sz="32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IaC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cloud-native environments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has created serious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risks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as small misconfigurations in templates can lead to major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breaches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cloud systems become more complex, it becomes harder for developers to identify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and context-specific vulnerabilities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traditional security tools.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vulnerability detection methods mainly use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analysis tools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rule-based systems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(such as CDK-Nag), and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dynamic runtime analysis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dirty="0">
                <a:solidFill>
                  <a:schemeClr val="dk1"/>
                </a:solidFill>
              </a:rPr>
              <a:t> 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tools work well for known issues, but they often fail to detect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interdependent or complex vulnerabilities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produce many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positives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they cannot fully understand the infrastructure context.</a:t>
            </a:r>
            <a:endParaRPr sz="3200" dirty="0"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9" name="Google Shape;139;p15"/>
          <p:cNvSpPr/>
          <p:nvPr/>
        </p:nvSpPr>
        <p:spPr>
          <a:xfrm>
            <a:off x="18011550" y="-2098542"/>
            <a:ext cx="18011550" cy="18434115"/>
          </a:xfrm>
          <a:custGeom>
            <a:avLst/>
            <a:gdLst/>
            <a:ahLst/>
            <a:cxnLst/>
            <a:rect l="l" t="t" r="r" b="b"/>
            <a:pathLst>
              <a:path w="4729978" h="2610298" extrusionOk="0">
                <a:moveTo>
                  <a:pt x="0" y="0"/>
                </a:moveTo>
                <a:lnTo>
                  <a:pt x="4729978" y="0"/>
                </a:lnTo>
                <a:lnTo>
                  <a:pt x="4729978" y="2610298"/>
                </a:lnTo>
                <a:lnTo>
                  <a:pt x="0" y="26102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53;p16">
            <a:extLst>
              <a:ext uri="{FF2B5EF4-FFF2-40B4-BE49-F238E27FC236}">
                <a16:creationId xmlns:a16="http://schemas.microsoft.com/office/drawing/2014/main" id="{8447F753-FDD2-16E3-8E98-62AE6D5AE335}"/>
              </a:ext>
            </a:extLst>
          </p:cNvPr>
          <p:cNvSpPr/>
          <p:nvPr/>
        </p:nvSpPr>
        <p:spPr>
          <a:xfrm>
            <a:off x="388973" y="115269"/>
            <a:ext cx="17588257" cy="9876855"/>
          </a:xfrm>
          <a:custGeom>
            <a:avLst/>
            <a:gdLst/>
            <a:ahLst/>
            <a:cxnLst/>
            <a:rect l="l" t="t" r="r" b="b"/>
            <a:pathLst>
              <a:path w="4729978" h="2610298" extrusionOk="0">
                <a:moveTo>
                  <a:pt x="0" y="0"/>
                </a:moveTo>
                <a:lnTo>
                  <a:pt x="4729978" y="0"/>
                </a:lnTo>
                <a:lnTo>
                  <a:pt x="4729978" y="2610298"/>
                </a:lnTo>
                <a:lnTo>
                  <a:pt x="0" y="26102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16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45" name="Google Shape;145;p16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46" name="Google Shape;146;p16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147" name="Google Shape;147;p16"/>
          <p:cNvGrpSpPr/>
          <p:nvPr/>
        </p:nvGrpSpPr>
        <p:grpSpPr>
          <a:xfrm>
            <a:off x="682166" y="92869"/>
            <a:ext cx="14259979" cy="1466708"/>
            <a:chOff x="-385845" y="0"/>
            <a:chExt cx="19013305" cy="1955611"/>
          </a:xfrm>
        </p:grpSpPr>
        <p:sp>
          <p:nvSpPr>
            <p:cNvPr id="148" name="Google Shape;148;p16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49" name="Google Shape;149;p16"/>
            <p:cNvSpPr txBox="1"/>
            <p:nvPr/>
          </p:nvSpPr>
          <p:spPr>
            <a:xfrm>
              <a:off x="-385845" y="117276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dirty="0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INTRODUCTION</a:t>
              </a:r>
              <a:endParaRPr dirty="0"/>
            </a:p>
          </p:txBody>
        </p:sp>
      </p:grpSp>
      <p:sp>
        <p:nvSpPr>
          <p:cNvPr id="150" name="Google Shape;150;p16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1" name="Google Shape;151;p16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682166" y="2937810"/>
            <a:ext cx="17365500" cy="56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Rise of Cloud Automation: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today’s digital world, organizations are widely adopting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Infrastructure-as-Code (</a:t>
            </a:r>
            <a:r>
              <a:rPr lang="en-US" sz="3200" b="1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IaC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automatically create and manage complex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environments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Challenge: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Although </a:t>
            </a:r>
            <a:r>
              <a:rPr lang="en-US" sz="3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IaC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improves speed and consistency, it also creates serious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risks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Small misconfigurations—such as unencrypted databases or open ports—can lead to major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 data breaches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(for example, the UniSuper Google Cloud incident).</a:t>
            </a:r>
            <a:endParaRPr sz="32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Limitations of Current Tools: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Traditional security tools depend on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static, rule-based systems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They can detect simple errors but often miss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context-specific and complex vulnerabilities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caused by interactions between cloud resources.</a:t>
            </a:r>
            <a:endParaRPr sz="3200" dirty="0"/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of False Positives: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Existing tools generate many </a:t>
            </a:r>
            <a:r>
              <a:rPr lang="en-US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positives</a:t>
            </a:r>
            <a:r>
              <a:rPr lang="en-US" sz="3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which overload developers with unnecessary alerts and do not fully understand the intent of the configuration.</a:t>
            </a:r>
            <a:endParaRPr sz="32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3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53;p16">
            <a:extLst>
              <a:ext uri="{FF2B5EF4-FFF2-40B4-BE49-F238E27FC236}">
                <a16:creationId xmlns:a16="http://schemas.microsoft.com/office/drawing/2014/main" id="{59306461-4F14-ACC1-DFB6-D693064922B2}"/>
              </a:ext>
            </a:extLst>
          </p:cNvPr>
          <p:cNvSpPr/>
          <p:nvPr/>
        </p:nvSpPr>
        <p:spPr>
          <a:xfrm>
            <a:off x="310766" y="383257"/>
            <a:ext cx="17666468" cy="9697257"/>
          </a:xfrm>
          <a:custGeom>
            <a:avLst/>
            <a:gdLst/>
            <a:ahLst/>
            <a:cxnLst/>
            <a:rect l="l" t="t" r="r" b="b"/>
            <a:pathLst>
              <a:path w="4729978" h="2610298" extrusionOk="0">
                <a:moveTo>
                  <a:pt x="0" y="0"/>
                </a:moveTo>
                <a:lnTo>
                  <a:pt x="4729978" y="0"/>
                </a:lnTo>
                <a:lnTo>
                  <a:pt x="4729978" y="2610298"/>
                </a:lnTo>
                <a:lnTo>
                  <a:pt x="0" y="26102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7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63" name="Google Shape;163;p17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64" name="Google Shape;164;p17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165" name="Google Shape;165;p17"/>
          <p:cNvSpPr txBox="1"/>
          <p:nvPr/>
        </p:nvSpPr>
        <p:spPr>
          <a:xfrm>
            <a:off x="1087626" y="118425"/>
            <a:ext cx="13970700" cy="11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001D58"/>
                </a:solidFill>
                <a:latin typeface="Times"/>
                <a:ea typeface="Times"/>
                <a:cs typeface="Times"/>
                <a:sym typeface="Times"/>
              </a:rPr>
              <a:t>OBJECTIVE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67" name="Google Shape;167;p17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  <p:sp>
        <p:nvSpPr>
          <p:cNvPr id="168" name="Google Shape;168;p17"/>
          <p:cNvSpPr/>
          <p:nvPr/>
        </p:nvSpPr>
        <p:spPr>
          <a:xfrm>
            <a:off x="971550" y="3921111"/>
            <a:ext cx="16811400" cy="26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77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</a:rPr>
              <a:t>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and implement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multi-agent AI framework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automatically detect security vulnerabilities in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Infrastructure-as-Code (</a:t>
            </a:r>
            <a:r>
              <a:rPr lang="en-US" sz="3600" b="1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IaC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templates.</a:t>
            </a:r>
            <a:endParaRPr sz="3600" dirty="0"/>
          </a:p>
          <a:p>
            <a:pPr marL="0" marR="0" lvl="0" indent="-177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</a:rPr>
              <a:t>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Overcome the limitations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 traditional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 analysis tools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by using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Retrieval-Augmented Generation (RAG)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identify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context-specific misconfigurations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reduce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false positives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600" dirty="0"/>
          </a:p>
          <a:p>
            <a:pPr marL="0" marR="0" lvl="0" indent="-177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600" b="1" dirty="0">
                <a:solidFill>
                  <a:schemeClr val="dk1"/>
                </a:solidFill>
              </a:rPr>
              <a:t>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automated and actionable remediation guidance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integrates smoothly with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CI/CD workflows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reduces manual effort, and improves overall </a:t>
            </a:r>
            <a:r>
              <a:rPr lang="en-US" sz="3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security scalability</a:t>
            </a:r>
            <a:r>
              <a:rPr lang="en-US" sz="36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3600" dirty="0"/>
          </a:p>
        </p:txBody>
      </p:sp>
      <p:sp>
        <p:nvSpPr>
          <p:cNvPr id="169" name="Google Shape;169;p17"/>
          <p:cNvSpPr/>
          <p:nvPr/>
        </p:nvSpPr>
        <p:spPr>
          <a:xfrm>
            <a:off x="216568" y="118425"/>
            <a:ext cx="17678650" cy="10050150"/>
          </a:xfrm>
          <a:custGeom>
            <a:avLst/>
            <a:gdLst/>
            <a:ahLst/>
            <a:cxnLst/>
            <a:rect l="l" t="t" r="r" b="b"/>
            <a:pathLst>
              <a:path w="4729978" h="2610298" extrusionOk="0">
                <a:moveTo>
                  <a:pt x="0" y="0"/>
                </a:moveTo>
                <a:lnTo>
                  <a:pt x="4729978" y="0"/>
                </a:lnTo>
                <a:lnTo>
                  <a:pt x="4729978" y="2610298"/>
                </a:lnTo>
                <a:lnTo>
                  <a:pt x="0" y="26102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75" name="Google Shape;175;p18"/>
          <p:cNvGrpSpPr/>
          <p:nvPr/>
        </p:nvGrpSpPr>
        <p:grpSpPr>
          <a:xfrm>
            <a:off x="164425" y="52175"/>
            <a:ext cx="17734580" cy="9929903"/>
            <a:chOff x="0" y="-38100"/>
            <a:chExt cx="4729978" cy="2648398"/>
          </a:xfrm>
        </p:grpSpPr>
        <p:sp>
          <p:nvSpPr>
            <p:cNvPr id="176" name="Google Shape;176;p18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22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7" name="Google Shape;177;p18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150" tIns="50150" rIns="50150" bIns="501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7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18"/>
          <p:cNvSpPr txBox="1"/>
          <p:nvPr/>
        </p:nvSpPr>
        <p:spPr>
          <a:xfrm>
            <a:off x="585132" y="1812739"/>
            <a:ext cx="16674168" cy="228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99"/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D. Toprani and V. K. Madisetti, "LLM Agentic Workflow for Automated Vulnerability Detection and Remediation in Infrastructure-as-Code," in IEEE Access, vol. 13, pp. 69175-69181, 2025, doi: 10.1109/ACCESS.2025.3560911.</a:t>
            </a:r>
            <a:endParaRPr/>
          </a:p>
          <a:p>
            <a:pPr marL="0" marR="0" lvl="0" indent="0" algn="ctr" rtl="0">
              <a:lnSpc>
                <a:spcPct val="1124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URL: </a:t>
            </a: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https://ieeexplore.ieee.org/stamp/stamp.jsp?tp=&amp;arnumber=10965635&amp;isnumber=10820123</a:t>
            </a:r>
            <a:endParaRPr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99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80" name="Google Shape;180;p18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81" name="Google Shape;181;p18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grpSp>
        <p:nvGrpSpPr>
          <p:cNvPr id="182" name="Google Shape;182;p18"/>
          <p:cNvGrpSpPr/>
          <p:nvPr/>
        </p:nvGrpSpPr>
        <p:grpSpPr>
          <a:xfrm>
            <a:off x="392782" y="103959"/>
            <a:ext cx="13970595" cy="1378751"/>
            <a:chOff x="0" y="-123825"/>
            <a:chExt cx="18627460" cy="1838335"/>
          </a:xfrm>
        </p:grpSpPr>
        <p:sp>
          <p:nvSpPr>
            <p:cNvPr id="183" name="Google Shape;183;p18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84" name="Google Shape;184;p18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BASE PAPER</a:t>
              </a:r>
              <a:endParaRPr/>
            </a:p>
          </p:txBody>
        </p:sp>
      </p:grpSp>
      <p:sp>
        <p:nvSpPr>
          <p:cNvPr id="185" name="Google Shape;185;p18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86" name="Google Shape;186;p18"/>
          <p:cNvSpPr txBox="1"/>
          <p:nvPr/>
        </p:nvSpPr>
        <p:spPr>
          <a:xfrm>
            <a:off x="15490814" y="9030873"/>
            <a:ext cx="185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/02/202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/>
          <p:nvPr/>
        </p:nvSpPr>
        <p:spPr>
          <a:xfrm>
            <a:off x="24581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92" name="Google Shape;192;p19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193" name="Google Shape;193;p19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194" name="Google Shape;194;p19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/>
            </a:p>
          </p:txBody>
        </p:sp>
      </p:grpSp>
      <p:grpSp>
        <p:nvGrpSpPr>
          <p:cNvPr id="195" name="Google Shape;195;p19"/>
          <p:cNvGrpSpPr/>
          <p:nvPr/>
        </p:nvGrpSpPr>
        <p:grpSpPr>
          <a:xfrm>
            <a:off x="1291896" y="-137154"/>
            <a:ext cx="13970595" cy="1378751"/>
            <a:chOff x="0" y="-123825"/>
            <a:chExt cx="18627460" cy="1838335"/>
          </a:xfrm>
        </p:grpSpPr>
        <p:sp>
          <p:nvSpPr>
            <p:cNvPr id="196" name="Google Shape;196;p19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97" name="Google Shape;197;p19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PROBLEM STATEMENT</a:t>
              </a:r>
              <a:endParaRPr/>
            </a:p>
          </p:txBody>
        </p:sp>
      </p:grpSp>
      <p:sp>
        <p:nvSpPr>
          <p:cNvPr id="198" name="Google Shape;198;p19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9" name="Google Shape;199;p19"/>
          <p:cNvSpPr txBox="1"/>
          <p:nvPr/>
        </p:nvSpPr>
        <p:spPr>
          <a:xfrm>
            <a:off x="15490814" y="9030873"/>
            <a:ext cx="185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/02/2026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1291896" y="3218961"/>
            <a:ext cx="16966800" cy="4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Complexity of Cloud Infrastructure: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organizations rapidly adopt Infrastructure-as-Code (</a:t>
            </a:r>
            <a:r>
              <a:rPr lang="en-US" sz="32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IaC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), cloud environments are becoming too complex to manage manually, leading to frequent misconfigurations like unencrypted databases or open access ports.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Failure of Traditional Tools: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Existing security tools (Static Analysis) operate on rigid rules. They are like "spellcheckers"—they catch simple typos but fail to understand the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missing subtle, interdependent vulnerabilities.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False Positives: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Because current tools lack understanding, they often flag safe configurations as dangerous (False Positives). This overwhelms developers with useless alerts and causes "alert fatigue".</a:t>
            </a:r>
            <a:endParaRPr sz="3200" dirty="0"/>
          </a:p>
          <a:p>
            <a:pPr marL="0" marR="0" lvl="0" indent="-177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3200" b="1" dirty="0">
                <a:solidFill>
                  <a:schemeClr val="dk1"/>
                </a:solidFill>
              </a:rPr>
              <a:t> </a:t>
            </a:r>
            <a:r>
              <a:rPr lang="en-US" sz="32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Automated Solutions: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Current tools only </a:t>
            </a:r>
            <a:r>
              <a:rPr lang="en-US" sz="32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find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 problems but do not tell you </a:t>
            </a:r>
            <a:r>
              <a:rPr lang="en-US" sz="3200" b="0" i="1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lang="en-US" sz="3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fix them. This forces developers to manually research and patch security holes, which is slow and error-prone.</a:t>
            </a:r>
            <a:endParaRPr sz="3200" dirty="0"/>
          </a:p>
        </p:txBody>
      </p:sp>
      <p:grpSp>
        <p:nvGrpSpPr>
          <p:cNvPr id="201" name="Google Shape;201;p19"/>
          <p:cNvGrpSpPr/>
          <p:nvPr/>
        </p:nvGrpSpPr>
        <p:grpSpPr>
          <a:xfrm>
            <a:off x="388974" y="0"/>
            <a:ext cx="17509960" cy="10108883"/>
            <a:chOff x="0" y="-38100"/>
            <a:chExt cx="4729978" cy="2648398"/>
          </a:xfrm>
        </p:grpSpPr>
        <p:sp>
          <p:nvSpPr>
            <p:cNvPr id="202" name="Google Shape;202;p19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20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03" name="Google Shape;203;p19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075" tIns="50075" rIns="50075" bIns="50075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74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0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09" name="Google Shape;209;p20"/>
          <p:cNvGrpSpPr/>
          <p:nvPr/>
        </p:nvGrpSpPr>
        <p:grpSpPr>
          <a:xfrm>
            <a:off x="161075" y="52174"/>
            <a:ext cx="17874587" cy="10008296"/>
            <a:chOff x="0" y="-38100"/>
            <a:chExt cx="4729978" cy="2648398"/>
          </a:xfrm>
        </p:grpSpPr>
        <p:sp>
          <p:nvSpPr>
            <p:cNvPr id="210" name="Google Shape;210;p20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4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11" name="Google Shape;211;p20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550" tIns="50550" rIns="50550" bIns="5055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79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12" name="Google Shape;212;p20"/>
          <p:cNvGraphicFramePr/>
          <p:nvPr/>
        </p:nvGraphicFramePr>
        <p:xfrm>
          <a:off x="510994" y="1701717"/>
          <a:ext cx="17259300" cy="7245878"/>
        </p:xfrm>
        <a:graphic>
          <a:graphicData uri="http://schemas.openxmlformats.org/drawingml/2006/table">
            <a:tbl>
              <a:tblPr>
                <a:noFill/>
                <a:tableStyleId>{18F6EF29-835F-4B49-82F7-B1459D2458D8}</a:tableStyleId>
              </a:tblPr>
              <a:tblGrid>
                <a:gridCol w="17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3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6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9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AUTHOR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6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   TITLE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6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APPROACH DESCRIPTION AND ACHIEVEMENTS 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LIMITATIONS/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OBSERVATION </a:t>
                      </a:r>
                      <a:endParaRPr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YEAR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 Lian et al.</a:t>
                      </a:r>
                      <a:endParaRPr sz="28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/>
                        <a:t>Configuration validation with large language models</a:t>
                      </a:r>
                      <a:endParaRPr sz="2800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Developed Ciri, a generic framework that employs Large Language Models (LLMs) as configuration validators without fine-tuning.</a:t>
                      </a:r>
                      <a:endParaRPr sz="250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just" rtl="0">
                        <a:lnSpc>
                          <a:spcPct val="102821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SzPts val="1100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</a:rPr>
                        <a:t>Hallucination and Non-determinism: LLMs can generate inconsistent or factually incorrect validation results.</a:t>
                      </a:r>
                      <a:endParaRPr sz="1200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2023</a:t>
                      </a:r>
                      <a:endParaRPr sz="2500"/>
                    </a:p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3. </a:t>
                      </a:r>
                      <a:r>
                        <a:rPr lang="en-US" sz="2500" u="none" strike="noStrike" cap="none"/>
                        <a:t>N. Saavedra, J. F. Ferreira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GLITCH: Automated polyglot security smell detection in IaC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28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Proposed a framework using static analysis and technology-agnostic representations to identify patterns linked to misconfigurations and hardcoded secrets.</a:t>
                      </a:r>
                      <a:endParaRPr sz="2500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8996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Faces challenges with dataset quality and maintaining accuracy in rapidly evolving cloud environments.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13" name="Google Shape;213;p20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214" name="Google Shape;214;p20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15" name="Google Shape;215;p20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/>
            </a:p>
          </p:txBody>
        </p:sp>
      </p:grpSp>
      <p:grpSp>
        <p:nvGrpSpPr>
          <p:cNvPr id="216" name="Google Shape;216;p20"/>
          <p:cNvGrpSpPr/>
          <p:nvPr/>
        </p:nvGrpSpPr>
        <p:grpSpPr>
          <a:xfrm>
            <a:off x="392782" y="103959"/>
            <a:ext cx="13970595" cy="1378751"/>
            <a:chOff x="0" y="-123825"/>
            <a:chExt cx="18627460" cy="1838335"/>
          </a:xfrm>
        </p:grpSpPr>
        <p:sp>
          <p:nvSpPr>
            <p:cNvPr id="217" name="Google Shape;217;p20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18" name="Google Shape;218;p20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LITERATURE SURVEY</a:t>
              </a:r>
              <a:endParaRPr/>
            </a:p>
          </p:txBody>
        </p:sp>
      </p:grpSp>
      <p:sp>
        <p:nvSpPr>
          <p:cNvPr id="219" name="Google Shape;219;p20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20" name="Google Shape;220;p20"/>
          <p:cNvSpPr txBox="1"/>
          <p:nvPr/>
        </p:nvSpPr>
        <p:spPr>
          <a:xfrm>
            <a:off x="15490814" y="9030873"/>
            <a:ext cx="185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/02/2026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26" name="Google Shape;226;p21"/>
          <p:cNvGrpSpPr/>
          <p:nvPr/>
        </p:nvGrpSpPr>
        <p:grpSpPr>
          <a:xfrm>
            <a:off x="161077" y="52167"/>
            <a:ext cx="17959134" cy="10055635"/>
            <a:chOff x="0" y="-38100"/>
            <a:chExt cx="4729978" cy="2648398"/>
          </a:xfrm>
        </p:grpSpPr>
        <p:sp>
          <p:nvSpPr>
            <p:cNvPr id="227" name="Google Shape;227;p21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28" name="Google Shape;228;p21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392782" y="2849"/>
            <a:ext cx="15937237" cy="1378741"/>
            <a:chOff x="0" y="-123825"/>
            <a:chExt cx="21249649" cy="1838321"/>
          </a:xfrm>
        </p:grpSpPr>
        <p:sp>
          <p:nvSpPr>
            <p:cNvPr id="230" name="Google Shape;230;p21"/>
            <p:cNvSpPr/>
            <p:nvPr/>
          </p:nvSpPr>
          <p:spPr>
            <a:xfrm>
              <a:off x="0" y="0"/>
              <a:ext cx="21249649" cy="1714496"/>
            </a:xfrm>
            <a:custGeom>
              <a:avLst/>
              <a:gdLst/>
              <a:ahLst/>
              <a:cxnLst/>
              <a:rect l="l" t="t" r="r" b="b"/>
              <a:pathLst>
                <a:path w="21249649" h="1714496" extrusionOk="0">
                  <a:moveTo>
                    <a:pt x="0" y="0"/>
                  </a:moveTo>
                  <a:lnTo>
                    <a:pt x="21249649" y="0"/>
                  </a:lnTo>
                  <a:lnTo>
                    <a:pt x="21249649" y="1714496"/>
                  </a:lnTo>
                  <a:lnTo>
                    <a:pt x="0" y="171449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31" name="Google Shape;231;p21"/>
            <p:cNvSpPr txBox="1"/>
            <p:nvPr/>
          </p:nvSpPr>
          <p:spPr>
            <a:xfrm>
              <a:off x="0" y="-123825"/>
              <a:ext cx="21249648" cy="1838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LITERATURE SURVEY</a:t>
              </a:r>
              <a:endParaRPr/>
            </a:p>
          </p:txBody>
        </p:sp>
      </p:grpSp>
      <p:graphicFrame>
        <p:nvGraphicFramePr>
          <p:cNvPr id="232" name="Google Shape;232;p21"/>
          <p:cNvGraphicFramePr/>
          <p:nvPr/>
        </p:nvGraphicFramePr>
        <p:xfrm>
          <a:off x="510994" y="1381590"/>
          <a:ext cx="17487075" cy="8235053"/>
        </p:xfrm>
        <a:graphic>
          <a:graphicData uri="http://schemas.openxmlformats.org/drawingml/2006/table">
            <a:tbl>
              <a:tblPr>
                <a:noFill/>
                <a:tableStyleId>{18F6EF29-835F-4B49-82F7-B1459D2458D8}</a:tableStyleId>
              </a:tblPr>
              <a:tblGrid>
                <a:gridCol w="1722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5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947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9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AUTHOR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6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        TITLE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26172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APPROACH DESCRIPTION AND ACHIEVEMENTS 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LIMITATIONS/</a:t>
                      </a:r>
                      <a:endParaRPr sz="1100" u="none" strike="noStrike" cap="none"/>
                    </a:p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OBSERVATION </a:t>
                      </a:r>
                      <a:endParaRPr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YEAR</a:t>
                      </a:r>
                      <a:endParaRPr sz="11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4. </a:t>
                      </a:r>
                      <a:r>
                        <a:rPr lang="en-US" sz="2500" u="none" strike="noStrike" cap="none"/>
                        <a:t>E. Malul, Y. Meidan, et al.</a:t>
                      </a:r>
                      <a:endParaRPr sz="2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6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GenKubeSec: LLM-based Kubernetes misconfiguration detection</a:t>
                      </a:r>
                      <a:endParaRPr sz="2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28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demonstrated the effectiveness of LLMs in interpreting Kubernetes manifests to identify security misconfigurations and suggest remediations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28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Susceptible to false positives and relies heavily on well-labeled datasets; struggles with nuanced, context-specific vulnerabilities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9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5. </a:t>
                      </a:r>
                      <a:r>
                        <a:rPr lang="en-US" sz="2500" u="none" strike="noStrike" cap="none"/>
                        <a:t>S. Ullah, M. Han, et al.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3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LLMs Cannot Reliably Identify and Reason About Security Vulnerabilities</a:t>
                      </a:r>
                      <a:endParaRPr sz="250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2821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Conducted a comprehensive evaluation of LLMs to test their ability to identify and reason about security flaws in code.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/>
                        <a:t>Highlighted significant difficulties in handling nuanced misconfigurations and a tendency for LLMs to hallucinate without external context.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9958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2500" u="none" strike="noStrike" cap="none"/>
                    </a:p>
                  </a:txBody>
                  <a:tcPr marL="91450" marR="91450" marT="91450" marB="9145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233" name="Google Shape;233;p21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234" name="Google Shape;234;p21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35" name="Google Shape;235;p21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/>
            </a:p>
          </p:txBody>
        </p:sp>
      </p:grpSp>
      <p:sp>
        <p:nvSpPr>
          <p:cNvPr id="236" name="Google Shape;236;p21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37" name="Google Shape;237;p21"/>
          <p:cNvSpPr txBox="1"/>
          <p:nvPr/>
        </p:nvSpPr>
        <p:spPr>
          <a:xfrm>
            <a:off x="15916412" y="929922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/>
          <p:nvPr/>
        </p:nvSpPr>
        <p:spPr>
          <a:xfrm>
            <a:off x="28575" y="95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243" name="Google Shape;243;p22"/>
          <p:cNvGrpSpPr/>
          <p:nvPr/>
        </p:nvGrpSpPr>
        <p:grpSpPr>
          <a:xfrm>
            <a:off x="147424" y="9525"/>
            <a:ext cx="17959134" cy="9978157"/>
            <a:chOff x="0" y="-38100"/>
            <a:chExt cx="4729978" cy="2648398"/>
          </a:xfrm>
        </p:grpSpPr>
        <p:sp>
          <p:nvSpPr>
            <p:cNvPr id="244" name="Google Shape;244;p22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45" name="Google Shape;245;p22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22"/>
          <p:cNvGrpSpPr/>
          <p:nvPr/>
        </p:nvGrpSpPr>
        <p:grpSpPr>
          <a:xfrm>
            <a:off x="392782" y="9144149"/>
            <a:ext cx="597816" cy="759594"/>
            <a:chOff x="0" y="-47625"/>
            <a:chExt cx="157450" cy="200058"/>
          </a:xfrm>
        </p:grpSpPr>
        <p:sp>
          <p:nvSpPr>
            <p:cNvPr id="247" name="Google Shape;247;p22"/>
            <p:cNvSpPr/>
            <p:nvPr/>
          </p:nvSpPr>
          <p:spPr>
            <a:xfrm>
              <a:off x="5017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48" name="Google Shape;248;p22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/>
            </a:p>
          </p:txBody>
        </p:sp>
      </p:grpSp>
      <p:grpSp>
        <p:nvGrpSpPr>
          <p:cNvPr id="249" name="Google Shape;249;p22"/>
          <p:cNvGrpSpPr/>
          <p:nvPr/>
        </p:nvGrpSpPr>
        <p:grpSpPr>
          <a:xfrm>
            <a:off x="392782" y="103959"/>
            <a:ext cx="13970595" cy="1378751"/>
            <a:chOff x="0" y="-123825"/>
            <a:chExt cx="18627460" cy="1838335"/>
          </a:xfrm>
        </p:grpSpPr>
        <p:sp>
          <p:nvSpPr>
            <p:cNvPr id="250" name="Google Shape;250;p22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51" name="Google Shape;251;p22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ARCHITECTURAL DIAGRAM</a:t>
              </a:r>
              <a:endParaRPr/>
            </a:p>
          </p:txBody>
        </p:sp>
      </p:grpSp>
      <p:sp>
        <p:nvSpPr>
          <p:cNvPr id="252" name="Google Shape;252;p22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53" name="Google Shape;253;p22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  <p:pic>
        <p:nvPicPr>
          <p:cNvPr id="254" name="Google Shape;254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442" y="1465051"/>
            <a:ext cx="17163254" cy="76417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3"/>
          <p:cNvSpPr txBox="1"/>
          <p:nvPr/>
        </p:nvSpPr>
        <p:spPr>
          <a:xfrm>
            <a:off x="161077" y="52167"/>
            <a:ext cx="17959134" cy="1005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910684" y="740693"/>
            <a:ext cx="12716510" cy="1641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24166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61" name="Google Shape;261;p23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262" name="Google Shape;262;p23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63" name="Google Shape;263;p23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11</a:t>
              </a:r>
              <a:endParaRPr/>
            </a:p>
          </p:txBody>
        </p:sp>
      </p:grpSp>
      <p:grpSp>
        <p:nvGrpSpPr>
          <p:cNvPr id="264" name="Google Shape;264;p23"/>
          <p:cNvGrpSpPr/>
          <p:nvPr/>
        </p:nvGrpSpPr>
        <p:grpSpPr>
          <a:xfrm>
            <a:off x="388974" y="-57458"/>
            <a:ext cx="14553171" cy="1604477"/>
            <a:chOff x="0" y="-424793"/>
            <a:chExt cx="19404228" cy="2139303"/>
          </a:xfrm>
        </p:grpSpPr>
        <p:sp>
          <p:nvSpPr>
            <p:cNvPr id="265" name="Google Shape;265;p23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66" name="Google Shape;266;p23"/>
            <p:cNvSpPr txBox="1"/>
            <p:nvPr/>
          </p:nvSpPr>
          <p:spPr>
            <a:xfrm>
              <a:off x="776768" y="-424793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 dirty="0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MODULES</a:t>
              </a:r>
              <a:endParaRPr dirty="0"/>
            </a:p>
          </p:txBody>
        </p:sp>
      </p:grpSp>
      <p:sp>
        <p:nvSpPr>
          <p:cNvPr id="267" name="Google Shape;267;p23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68" name="Google Shape;268;p23"/>
          <p:cNvSpPr txBox="1"/>
          <p:nvPr/>
        </p:nvSpPr>
        <p:spPr>
          <a:xfrm>
            <a:off x="15490814" y="9030873"/>
            <a:ext cx="1853882" cy="528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16/02/2026</a:t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910684" y="2743281"/>
            <a:ext cx="10398300" cy="59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Module 1: Input and Knowledge Retrieval (RAG Module)</a:t>
            </a:r>
            <a:endParaRPr sz="2800" dirty="0">
              <a:solidFill>
                <a:schemeClr val="dk1"/>
              </a:solidFill>
            </a:endParaRPr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1: Input Processing</a:t>
            </a:r>
            <a:endParaRPr sz="2800" dirty="0"/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2: Vector Embedding</a:t>
            </a:r>
            <a:endParaRPr sz="2800" dirty="0"/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3: Retrieval System</a:t>
            </a:r>
            <a:endParaRPr sz="2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Module 2: Template Preprocessing</a:t>
            </a:r>
            <a:endParaRPr sz="2800" i="0" u="none" strike="noStrike" cap="none" dirty="0">
              <a:solidFill>
                <a:schemeClr val="dk1"/>
              </a:solidFill>
            </a:endParaRPr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1: Parsing</a:t>
            </a:r>
            <a:endParaRPr sz="2800" dirty="0"/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2: Normalization</a:t>
            </a:r>
            <a:endParaRPr sz="2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Module 3: Vulnerability Detection Agent</a:t>
            </a:r>
            <a:endParaRPr sz="2800" i="0" u="none" strike="noStrike" cap="none" dirty="0">
              <a:solidFill>
                <a:schemeClr val="dk1"/>
              </a:solidFill>
            </a:endParaRPr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1: Context Integration</a:t>
            </a:r>
            <a:endParaRPr sz="2800" dirty="0"/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2: Semantic Analysis</a:t>
            </a:r>
            <a:endParaRPr sz="2800" dirty="0"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Module 4: Remediation and Reporting</a:t>
            </a:r>
            <a:endParaRPr sz="2800" i="0" u="none" strike="noStrike" cap="none" dirty="0">
              <a:solidFill>
                <a:schemeClr val="dk1"/>
              </a:solidFill>
            </a:endParaRPr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1: Remediation Generation</a:t>
            </a:r>
            <a:endParaRPr sz="2800" dirty="0"/>
          </a:p>
          <a:p>
            <a:pPr marL="137160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-US" sz="2800" i="0" u="none" strike="noStrike" cap="none" dirty="0">
                <a:solidFill>
                  <a:schemeClr val="dk1"/>
                </a:solidFill>
              </a:rPr>
              <a:t>Submodule 2: Report Generation</a:t>
            </a:r>
            <a:endParaRPr sz="28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0" name="Google Shape;270;p23"/>
          <p:cNvGrpSpPr/>
          <p:nvPr/>
        </p:nvGrpSpPr>
        <p:grpSpPr>
          <a:xfrm>
            <a:off x="255870" y="0"/>
            <a:ext cx="17769548" cy="10055634"/>
            <a:chOff x="0" y="-38100"/>
            <a:chExt cx="4729978" cy="2648398"/>
          </a:xfrm>
        </p:grpSpPr>
        <p:sp>
          <p:nvSpPr>
            <p:cNvPr id="271" name="Google Shape;271;p23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72" name="Google Shape;272;p23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24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278" name="Google Shape;278;p24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79" name="Google Shape;279;p24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12</a:t>
              </a:r>
              <a:endParaRPr/>
            </a:p>
          </p:txBody>
        </p:sp>
      </p:grpSp>
      <p:grpSp>
        <p:nvGrpSpPr>
          <p:cNvPr id="280" name="Google Shape;280;p24"/>
          <p:cNvGrpSpPr/>
          <p:nvPr/>
        </p:nvGrpSpPr>
        <p:grpSpPr>
          <a:xfrm>
            <a:off x="971550" y="-94526"/>
            <a:ext cx="13970595" cy="1378751"/>
            <a:chOff x="0" y="-123825"/>
            <a:chExt cx="18627460" cy="1838335"/>
          </a:xfrm>
        </p:grpSpPr>
        <p:sp>
          <p:nvSpPr>
            <p:cNvPr id="281" name="Google Shape;281;p24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82" name="Google Shape;282;p24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CONCLUSION</a:t>
              </a:r>
              <a:endParaRPr/>
            </a:p>
          </p:txBody>
        </p:sp>
      </p:grpSp>
      <p:sp>
        <p:nvSpPr>
          <p:cNvPr id="283" name="Google Shape;283;p24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84" name="Google Shape;284;p24"/>
          <p:cNvSpPr txBox="1"/>
          <p:nvPr/>
        </p:nvSpPr>
        <p:spPr>
          <a:xfrm>
            <a:off x="15500339" y="9030873"/>
            <a:ext cx="1853882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  <a:endParaRPr/>
          </a:p>
        </p:txBody>
      </p:sp>
      <p:sp>
        <p:nvSpPr>
          <p:cNvPr id="285" name="Google Shape;285;p24"/>
          <p:cNvSpPr/>
          <p:nvPr/>
        </p:nvSpPr>
        <p:spPr>
          <a:xfrm>
            <a:off x="971550" y="3382819"/>
            <a:ext cx="16993344" cy="4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50"/>
              <a:buFont typeface="Roboto"/>
              <a:buChar char="•"/>
            </a:pPr>
            <a:r>
              <a:rPr lang="en-US" sz="4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An LLM-driven multi-agent system significantly enhances cloud security.</a:t>
            </a:r>
            <a:endParaRPr sz="4400" dirty="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50"/>
              <a:buFont typeface="Roboto"/>
              <a:buChar char="•"/>
            </a:pPr>
            <a:r>
              <a:rPr lang="en-US" sz="4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solution uses RAG to understand </a:t>
            </a:r>
            <a:r>
              <a:rPr lang="en-US" sz="4400" dirty="0" err="1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IaC</a:t>
            </a:r>
            <a:r>
              <a:rPr lang="en-US" sz="4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context, finding subtle, complex vulnerabilities.</a:t>
            </a:r>
            <a:endParaRPr sz="4400" dirty="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50"/>
              <a:buFont typeface="Roboto"/>
              <a:buChar char="•"/>
            </a:pPr>
            <a:r>
              <a:rPr lang="en-US" sz="4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The system has an 85% detection rate for complex misconfigurations with a low false positive rate.</a:t>
            </a:r>
            <a:endParaRPr sz="4400" dirty="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lvl="0" indent="-422275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50"/>
              <a:buFont typeface="Roboto"/>
              <a:buChar char="•"/>
            </a:pPr>
            <a:r>
              <a:rPr lang="en-US" sz="4400" dirty="0">
                <a:solidFill>
                  <a:srgbClr val="1F1F1F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Automated remediation integrates with CI/CD, reducing manual effort and improving cloud security.</a:t>
            </a:r>
            <a:endParaRPr sz="4400" dirty="0">
              <a:solidFill>
                <a:srgbClr val="1F1F1F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164374" y="196456"/>
            <a:ext cx="17800520" cy="9891442"/>
          </a:xfrm>
          <a:custGeom>
            <a:avLst/>
            <a:gdLst/>
            <a:ahLst/>
            <a:cxnLst/>
            <a:rect l="l" t="t" r="r" b="b"/>
            <a:pathLst>
              <a:path w="4729978" h="2610298" extrusionOk="0">
                <a:moveTo>
                  <a:pt x="0" y="0"/>
                </a:moveTo>
                <a:lnTo>
                  <a:pt x="4729978" y="0"/>
                </a:lnTo>
                <a:lnTo>
                  <a:pt x="4729978" y="2610298"/>
                </a:lnTo>
                <a:lnTo>
                  <a:pt x="0" y="2610298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8575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oogle Shape;293;p25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294" name="Google Shape;294;p25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295" name="Google Shape;295;p25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14</a:t>
              </a:r>
              <a:endParaRPr/>
            </a:p>
          </p:txBody>
        </p:sp>
      </p:grpSp>
      <p:grpSp>
        <p:nvGrpSpPr>
          <p:cNvPr id="296" name="Google Shape;296;p25"/>
          <p:cNvGrpSpPr/>
          <p:nvPr/>
        </p:nvGrpSpPr>
        <p:grpSpPr>
          <a:xfrm>
            <a:off x="1315282" y="-285349"/>
            <a:ext cx="13970595" cy="1378751"/>
            <a:chOff x="0" y="-123825"/>
            <a:chExt cx="18627460" cy="1838335"/>
          </a:xfrm>
        </p:grpSpPr>
        <p:sp>
          <p:nvSpPr>
            <p:cNvPr id="297" name="Google Shape;297;p25"/>
            <p:cNvSpPr/>
            <p:nvPr/>
          </p:nvSpPr>
          <p:spPr>
            <a:xfrm>
              <a:off x="0" y="0"/>
              <a:ext cx="18627460" cy="1714510"/>
            </a:xfrm>
            <a:custGeom>
              <a:avLst/>
              <a:gdLst/>
              <a:ahLst/>
              <a:cxnLst/>
              <a:rect l="l" t="t" r="r" b="b"/>
              <a:pathLst>
                <a:path w="18627460" h="1714510" extrusionOk="0">
                  <a:moveTo>
                    <a:pt x="0" y="0"/>
                  </a:moveTo>
                  <a:lnTo>
                    <a:pt x="18627460" y="0"/>
                  </a:lnTo>
                  <a:lnTo>
                    <a:pt x="18627460" y="1714510"/>
                  </a:lnTo>
                  <a:lnTo>
                    <a:pt x="0" y="17145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298" name="Google Shape;298;p25"/>
            <p:cNvSpPr txBox="1"/>
            <p:nvPr/>
          </p:nvSpPr>
          <p:spPr>
            <a:xfrm>
              <a:off x="0" y="-123825"/>
              <a:ext cx="18627460" cy="18383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 b="1">
                  <a:solidFill>
                    <a:srgbClr val="001D58"/>
                  </a:solidFill>
                  <a:latin typeface="Times"/>
                  <a:ea typeface="Times"/>
                  <a:cs typeface="Times"/>
                  <a:sym typeface="Times"/>
                </a:rPr>
                <a:t>REFERENCES</a:t>
              </a:r>
              <a:endParaRPr/>
            </a:p>
          </p:txBody>
        </p:sp>
      </p:grpSp>
      <p:sp>
        <p:nvSpPr>
          <p:cNvPr id="299" name="Google Shape;299;p25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00" name="Google Shape;300;p25"/>
          <p:cNvSpPr txBox="1"/>
          <p:nvPr/>
        </p:nvSpPr>
        <p:spPr>
          <a:xfrm>
            <a:off x="15490814" y="9030873"/>
            <a:ext cx="1853882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  <a:endParaRPr/>
          </a:p>
        </p:txBody>
      </p:sp>
      <p:sp>
        <p:nvSpPr>
          <p:cNvPr id="301" name="Google Shape;301;p25"/>
          <p:cNvSpPr/>
          <p:nvPr/>
        </p:nvSpPr>
        <p:spPr>
          <a:xfrm>
            <a:off x="1315282" y="1918349"/>
            <a:ext cx="14622300" cy="72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Toprani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D., &amp;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Madisetti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V. K. (2025). LLM Agentic Workflow for Automated Vulnerability Detection and Remediation in Infrastructure-as-Code. 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IEEE Access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2800" dirty="0"/>
          </a:p>
          <a:p>
            <a:pPr marL="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Lian, X., Chen, Y., Cheng, R., Huang, J., Thakkar, P., Zhang, M., &amp; Xu, T. (2023). Configuration validation with large language models. </a:t>
            </a:r>
            <a:r>
              <a:rPr lang="en-US" sz="2800" i="1" dirty="0" err="1">
                <a:solidFill>
                  <a:srgbClr val="222222"/>
                </a:solidFill>
                <a:highlight>
                  <a:srgbClr val="FFFFFF"/>
                </a:highlight>
              </a:rPr>
              <a:t>arXiv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 preprint arXiv:2310.09690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2800" dirty="0"/>
          </a:p>
          <a:p>
            <a:pPr marL="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Saavedra, N., &amp; Ferreira, J. F. (2022, October). Glitch: Automated polyglot security smell detection in infrastructure as code. In 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Proceedings of the 37th IEEE/ACM international conference on automated software engineering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(pp. 1-12).</a:t>
            </a:r>
            <a:endParaRPr sz="2800" dirty="0"/>
          </a:p>
          <a:p>
            <a:pPr marL="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Malul, E.,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Meidan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Y., Mimran, D.,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Elovici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Y., &amp; Shabtai, A. (2024).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Genkubesec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: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Llm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-based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kubernetes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misconfiguration detection, localization, reasoning, and remediation. </a:t>
            </a:r>
            <a:r>
              <a:rPr lang="en-US" sz="2800" i="1" dirty="0" err="1">
                <a:solidFill>
                  <a:srgbClr val="222222"/>
                </a:solidFill>
                <a:highlight>
                  <a:srgbClr val="FFFFFF"/>
                </a:highlight>
              </a:rPr>
              <a:t>arXiv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 preprint arXiv:2405.19954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.</a:t>
            </a:r>
            <a:endParaRPr sz="2800" dirty="0"/>
          </a:p>
          <a:p>
            <a:pPr marL="0" marR="0" lvl="0" indent="-158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AutoNum type="arabicPeriod"/>
            </a:pP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Ullah, S., Han, M., Pujar, S., Pearce, H., Coskun, A., &amp;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Stringhini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, G. (2024, May). </a:t>
            </a:r>
            <a:r>
              <a:rPr lang="en-US" sz="2800" dirty="0" err="1">
                <a:solidFill>
                  <a:srgbClr val="222222"/>
                </a:solidFill>
                <a:highlight>
                  <a:srgbClr val="FFFFFF"/>
                </a:highlight>
              </a:rPr>
              <a:t>Llms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cannot reliably identify and reason about security vulnerabilities (yet?): A comprehensive evaluation, framework, and benchmarks. In </a:t>
            </a:r>
            <a:r>
              <a:rPr lang="en-US" sz="2800" i="1" dirty="0">
                <a:solidFill>
                  <a:srgbClr val="222222"/>
                </a:solidFill>
                <a:highlight>
                  <a:srgbClr val="FFFFFF"/>
                </a:highlight>
              </a:rPr>
              <a:t>2024 IEEE symposium on security and privacy (SP)</a:t>
            </a:r>
            <a:r>
              <a:rPr lang="en-US" sz="2800" dirty="0">
                <a:solidFill>
                  <a:srgbClr val="222222"/>
                </a:solidFill>
                <a:highlight>
                  <a:srgbClr val="FFFFFF"/>
                </a:highlight>
              </a:rPr>
              <a:t> (pp. 862-880). IEEE.</a:t>
            </a:r>
            <a:endParaRPr sz="2800" dirty="0"/>
          </a:p>
        </p:txBody>
      </p:sp>
      <p:grpSp>
        <p:nvGrpSpPr>
          <p:cNvPr id="2" name="Google Shape;314;p26">
            <a:extLst>
              <a:ext uri="{FF2B5EF4-FFF2-40B4-BE49-F238E27FC236}">
                <a16:creationId xmlns:a16="http://schemas.microsoft.com/office/drawing/2014/main" id="{752F3E5D-D1C9-C4DB-E8B6-8EFE9BA32BCB}"/>
              </a:ext>
            </a:extLst>
          </p:cNvPr>
          <p:cNvGrpSpPr/>
          <p:nvPr/>
        </p:nvGrpSpPr>
        <p:grpSpPr>
          <a:xfrm>
            <a:off x="161077" y="52167"/>
            <a:ext cx="17959134" cy="10055635"/>
            <a:chOff x="0" y="-38100"/>
            <a:chExt cx="4729978" cy="2648398"/>
          </a:xfrm>
        </p:grpSpPr>
        <p:sp>
          <p:nvSpPr>
            <p:cNvPr id="3" name="Google Shape;315;p26">
              <a:extLst>
                <a:ext uri="{FF2B5EF4-FFF2-40B4-BE49-F238E27FC236}">
                  <a16:creationId xmlns:a16="http://schemas.microsoft.com/office/drawing/2014/main" id="{D5409987-96B9-F209-8D78-3194A92279AA}"/>
                </a:ext>
              </a:extLst>
            </p:cNvPr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" name="Google Shape;316;p26">
              <a:extLst>
                <a:ext uri="{FF2B5EF4-FFF2-40B4-BE49-F238E27FC236}">
                  <a16:creationId xmlns:a16="http://schemas.microsoft.com/office/drawing/2014/main" id="{F5BEDC62-A22B-5D6B-5833-27336313EEA8}"/>
                </a:ext>
              </a:extLst>
            </p:cNvPr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 extrusionOk="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314" name="Google Shape;314;p26"/>
          <p:cNvGrpSpPr/>
          <p:nvPr/>
        </p:nvGrpSpPr>
        <p:grpSpPr>
          <a:xfrm>
            <a:off x="161077" y="52167"/>
            <a:ext cx="17959134" cy="10055635"/>
            <a:chOff x="0" y="-38100"/>
            <a:chExt cx="4729978" cy="2648398"/>
          </a:xfrm>
        </p:grpSpPr>
        <p:sp>
          <p:nvSpPr>
            <p:cNvPr id="315" name="Google Shape;315;p26"/>
            <p:cNvSpPr/>
            <p:nvPr/>
          </p:nvSpPr>
          <p:spPr>
            <a:xfrm>
              <a:off x="0" y="0"/>
              <a:ext cx="4729978" cy="2610298"/>
            </a:xfrm>
            <a:custGeom>
              <a:avLst/>
              <a:gdLst/>
              <a:ahLst/>
              <a:cxnLst/>
              <a:rect l="l" t="t" r="r" b="b"/>
              <a:pathLst>
                <a:path w="4729978" h="2610298" extrusionOk="0">
                  <a:moveTo>
                    <a:pt x="0" y="0"/>
                  </a:moveTo>
                  <a:lnTo>
                    <a:pt x="4729978" y="0"/>
                  </a:lnTo>
                  <a:lnTo>
                    <a:pt x="4729978" y="2610298"/>
                  </a:lnTo>
                  <a:lnTo>
                    <a:pt x="0" y="261029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16" name="Google Shape;316;p26"/>
            <p:cNvSpPr txBox="1"/>
            <p:nvPr/>
          </p:nvSpPr>
          <p:spPr>
            <a:xfrm>
              <a:off x="0" y="-38100"/>
              <a:ext cx="4729978" cy="26483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7" name="Google Shape;317;p26"/>
          <p:cNvGrpSpPr/>
          <p:nvPr/>
        </p:nvGrpSpPr>
        <p:grpSpPr>
          <a:xfrm>
            <a:off x="1817676" y="3629517"/>
            <a:ext cx="13677103" cy="2845571"/>
            <a:chOff x="0" y="-266700"/>
            <a:chExt cx="18236137" cy="3794094"/>
          </a:xfrm>
        </p:grpSpPr>
        <p:sp>
          <p:nvSpPr>
            <p:cNvPr id="318" name="Google Shape;318;p26"/>
            <p:cNvSpPr/>
            <p:nvPr/>
          </p:nvSpPr>
          <p:spPr>
            <a:xfrm>
              <a:off x="0" y="0"/>
              <a:ext cx="18236136" cy="3527394"/>
            </a:xfrm>
            <a:custGeom>
              <a:avLst/>
              <a:gdLst/>
              <a:ahLst/>
              <a:cxnLst/>
              <a:rect l="l" t="t" r="r" b="b"/>
              <a:pathLst>
                <a:path w="18236136" h="3527394" extrusionOk="0">
                  <a:moveTo>
                    <a:pt x="0" y="0"/>
                  </a:moveTo>
                  <a:lnTo>
                    <a:pt x="18236136" y="0"/>
                  </a:lnTo>
                  <a:lnTo>
                    <a:pt x="18236136" y="3527394"/>
                  </a:lnTo>
                  <a:lnTo>
                    <a:pt x="0" y="352739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319" name="Google Shape;319;p26"/>
            <p:cNvSpPr txBox="1"/>
            <p:nvPr/>
          </p:nvSpPr>
          <p:spPr>
            <a:xfrm>
              <a:off x="0" y="-266700"/>
              <a:ext cx="18236137" cy="37940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600">
                  <a:solidFill>
                    <a:srgbClr val="0070C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   </a:t>
              </a:r>
              <a:r>
                <a:rPr lang="en-US" sz="13600">
                  <a:solidFill>
                    <a:srgbClr val="001D58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THANK YOU</a:t>
              </a:r>
              <a:endParaRPr/>
            </a:p>
          </p:txBody>
        </p:sp>
      </p:grpSp>
      <p:grpSp>
        <p:nvGrpSpPr>
          <p:cNvPr id="320" name="Google Shape;320;p26"/>
          <p:cNvGrpSpPr/>
          <p:nvPr/>
        </p:nvGrpSpPr>
        <p:grpSpPr>
          <a:xfrm>
            <a:off x="392782" y="9144149"/>
            <a:ext cx="578768" cy="759594"/>
            <a:chOff x="0" y="-47625"/>
            <a:chExt cx="152433" cy="200058"/>
          </a:xfrm>
        </p:grpSpPr>
        <p:sp>
          <p:nvSpPr>
            <p:cNvPr id="321" name="Google Shape;321;p26"/>
            <p:cNvSpPr/>
            <p:nvPr/>
          </p:nvSpPr>
          <p:spPr>
            <a:xfrm>
              <a:off x="0" y="0"/>
              <a:ext cx="152433" cy="152433"/>
            </a:xfrm>
            <a:custGeom>
              <a:avLst/>
              <a:gdLst/>
              <a:ahLst/>
              <a:cxnLst/>
              <a:rect l="l" t="t" r="r" b="b"/>
              <a:pathLst>
                <a:path w="152433" h="152433" extrusionOk="0">
                  <a:moveTo>
                    <a:pt x="0" y="0"/>
                  </a:moveTo>
                  <a:lnTo>
                    <a:pt x="152433" y="0"/>
                  </a:lnTo>
                  <a:lnTo>
                    <a:pt x="152433" y="152433"/>
                  </a:lnTo>
                  <a:lnTo>
                    <a:pt x="0" y="152433"/>
                  </a:lnTo>
                  <a:close/>
                </a:path>
              </a:pathLst>
            </a:custGeom>
            <a:solidFill>
              <a:srgbClr val="FF4500"/>
            </a:solidFill>
            <a:ln>
              <a:noFill/>
            </a:ln>
          </p:spPr>
        </p:sp>
        <p:sp>
          <p:nvSpPr>
            <p:cNvPr id="322" name="Google Shape;322;p26"/>
            <p:cNvSpPr txBox="1"/>
            <p:nvPr/>
          </p:nvSpPr>
          <p:spPr>
            <a:xfrm>
              <a:off x="0" y="-47625"/>
              <a:ext cx="152433" cy="2000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/>
            </a:p>
          </p:txBody>
        </p:sp>
      </p:grpSp>
      <p:sp>
        <p:nvSpPr>
          <p:cNvPr id="323" name="Google Shape;323;p26"/>
          <p:cNvSpPr/>
          <p:nvPr/>
        </p:nvSpPr>
        <p:spPr>
          <a:xfrm>
            <a:off x="13976138" y="404027"/>
            <a:ext cx="3922888" cy="880198"/>
          </a:xfrm>
          <a:custGeom>
            <a:avLst/>
            <a:gdLst/>
            <a:ahLst/>
            <a:cxnLst/>
            <a:rect l="l" t="t" r="r" b="b"/>
            <a:pathLst>
              <a:path w="3922888" h="880198" extrusionOk="0">
                <a:moveTo>
                  <a:pt x="0" y="0"/>
                </a:moveTo>
                <a:lnTo>
                  <a:pt x="3922888" y="0"/>
                </a:lnTo>
                <a:lnTo>
                  <a:pt x="3922888" y="880199"/>
                </a:lnTo>
                <a:lnTo>
                  <a:pt x="0" y="880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324" name="Google Shape;324;p26"/>
          <p:cNvSpPr txBox="1"/>
          <p:nvPr/>
        </p:nvSpPr>
        <p:spPr>
          <a:xfrm>
            <a:off x="15490814" y="9030873"/>
            <a:ext cx="1853882" cy="60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18/02/2025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1255</Words>
  <Application>Microsoft Office PowerPoint</Application>
  <PresentationFormat>Custom</PresentationFormat>
  <Paragraphs>138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Times</vt:lpstr>
      <vt:lpstr>PT Serif</vt:lpstr>
      <vt:lpstr>Roboto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SOM S</dc:creator>
  <cp:lastModifiedBy>SOM S</cp:lastModifiedBy>
  <cp:revision>7</cp:revision>
  <dcterms:modified xsi:type="dcterms:W3CDTF">2026-02-19T05:00:22Z</dcterms:modified>
</cp:coreProperties>
</file>