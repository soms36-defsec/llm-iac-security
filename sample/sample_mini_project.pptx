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T Serif Bold" charset="1" panose="020A0703040505020204"/>
      <p:regular r:id="rId24"/>
    </p:embeddedFont>
    <p:embeddedFont>
      <p:font typeface="PT Serif" charset="1" panose="020A0603040505020204"/>
      <p:regular r:id="rId25"/>
    </p:embeddedFont>
    <p:embeddedFont>
      <p:font typeface="PT Serif Bold Italics" charset="1" panose="020A0703040505090204"/>
      <p:regular r:id="rId26"/>
    </p:embeddedFont>
    <p:embeddedFont>
      <p:font typeface="Canva Sans" charset="1" panose="020B0503030501040103"/>
      <p:regular r:id="rId27"/>
    </p:embeddedFont>
    <p:embeddedFont>
      <p:font typeface="Times New Roman" charset="1" panose="02030502070405020303"/>
      <p:regular r:id="rId28"/>
    </p:embeddedFont>
    <p:embeddedFont>
      <p:font typeface="Times New Roman Bold" charset="1" panose="020308020704050203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oi.org/10.1007/s11042-020-09625-8" TargetMode="External" Type="http://schemas.openxmlformats.org/officeDocument/2006/relationships/hyperlink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l.acm.org/toc/sigplan/2014/49/10" TargetMode="External" Type="http://schemas.openxmlformats.org/officeDocument/2006/relationships/hyperlink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401800" y="228602"/>
            <a:ext cx="3498273" cy="2052372"/>
            <a:chOff x="0" y="0"/>
            <a:chExt cx="4664364" cy="27364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64329" cy="2736469"/>
            </a:xfrm>
            <a:custGeom>
              <a:avLst/>
              <a:gdLst/>
              <a:ahLst/>
              <a:cxnLst/>
              <a:rect r="r" b="b" t="t" l="l"/>
              <a:pathLst>
                <a:path h="2736469" w="4664329">
                  <a:moveTo>
                    <a:pt x="0" y="0"/>
                  </a:moveTo>
                  <a:lnTo>
                    <a:pt x="4664329" y="0"/>
                  </a:lnTo>
                  <a:lnTo>
                    <a:pt x="4664329" y="2736469"/>
                  </a:lnTo>
                  <a:lnTo>
                    <a:pt x="0" y="273646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1077" y="196828"/>
            <a:ext cx="17959134" cy="9910974"/>
            <a:chOff x="0" y="0"/>
            <a:chExt cx="4729978" cy="2610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29978" cy="2610298"/>
            </a:xfrm>
            <a:custGeom>
              <a:avLst/>
              <a:gdLst/>
              <a:ahLst/>
              <a:cxnLst/>
              <a:rect r="r" b="b" t="t" l="l"/>
              <a:pathLst>
                <a:path h="2610298" w="472997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628900" y="7596031"/>
            <a:ext cx="13030200" cy="2156746"/>
            <a:chOff x="0" y="0"/>
            <a:chExt cx="17373600" cy="28756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73600" cy="2875661"/>
            </a:xfrm>
            <a:custGeom>
              <a:avLst/>
              <a:gdLst/>
              <a:ahLst/>
              <a:cxnLst/>
              <a:rect r="r" b="b" t="t" l="l"/>
              <a:pathLst>
                <a:path h="2875661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2875661"/>
                  </a:lnTo>
                  <a:lnTo>
                    <a:pt x="0" y="28756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7373600" cy="287566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996"/>
                </a:lnSpc>
              </a:pPr>
              <a:r>
                <a:rPr lang="en-US" b="true" sz="3330" spc="15">
                  <a:solidFill>
                    <a:srgbClr val="C00000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Guided By,</a:t>
              </a:r>
            </a:p>
            <a:p>
              <a:pPr algn="ctr">
                <a:lnSpc>
                  <a:spcPts val="3996"/>
                </a:lnSpc>
              </a:pPr>
              <a:r>
                <a:rPr lang="en-US" b="true" sz="3330" spc="15">
                  <a:solidFill>
                    <a:srgbClr val="002060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Dr.R.Alageswaran</a:t>
              </a:r>
            </a:p>
            <a:p>
              <a:pPr algn="ctr">
                <a:lnSpc>
                  <a:spcPts val="3996"/>
                </a:lnSpc>
              </a:pPr>
              <a:r>
                <a:rPr lang="en-US" sz="3330" spc="15">
                  <a:solidFill>
                    <a:srgbClr val="FFFF00"/>
                  </a:solidFill>
                  <a:latin typeface="PT Serif"/>
                  <a:ea typeface="PT Serif"/>
                  <a:cs typeface="PT Serif"/>
                  <a:sym typeface="PT Serif"/>
                </a:rPr>
                <a:t> </a:t>
              </a:r>
              <a:r>
                <a:rPr lang="en-US" b="true" sz="3330" i="true" spc="15">
                  <a:solidFill>
                    <a:srgbClr val="C00000"/>
                  </a:solidFill>
                  <a:latin typeface="PT Serif Bold Italics"/>
                  <a:ea typeface="PT Serif Bold Italics"/>
                  <a:cs typeface="PT Serif Bold Italics"/>
                  <a:sym typeface="PT Serif Bold Italics"/>
                </a:rPr>
                <a:t>Associate Dean-Student welfare &amp; Professor , School of Computing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92782" y="9324975"/>
            <a:ext cx="578768" cy="578768"/>
            <a:chOff x="0" y="0"/>
            <a:chExt cx="152433" cy="1524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2433" cy="152433"/>
            </a:xfrm>
            <a:custGeom>
              <a:avLst/>
              <a:gdLst/>
              <a:ahLst/>
              <a:cxnLst/>
              <a:rect r="r" b="b" t="t" l="l"/>
              <a:pathLst>
                <a:path h="152433" w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602118" y="653707"/>
            <a:ext cx="13084230" cy="2935774"/>
          </a:xfrm>
          <a:custGeom>
            <a:avLst/>
            <a:gdLst/>
            <a:ahLst/>
            <a:cxnLst/>
            <a:rect r="r" b="b" t="t" l="l"/>
            <a:pathLst>
              <a:path h="2935774" w="13084230">
                <a:moveTo>
                  <a:pt x="0" y="0"/>
                </a:moveTo>
                <a:lnTo>
                  <a:pt x="13084230" y="0"/>
                </a:lnTo>
                <a:lnTo>
                  <a:pt x="13084230" y="2935774"/>
                </a:lnTo>
                <a:lnTo>
                  <a:pt x="0" y="2935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3837131"/>
            <a:ext cx="16230600" cy="1615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0"/>
              </a:lnSpc>
            </a:pPr>
            <a:r>
              <a:rPr lang="en-US" sz="50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Implementing SPECK-R Cryptographic Algorithm for </a:t>
            </a:r>
          </a:p>
          <a:p>
            <a:pPr algn="ctr">
              <a:lnSpc>
                <a:spcPts val="6040"/>
              </a:lnSpc>
              <a:spcBef>
                <a:spcPct val="0"/>
              </a:spcBef>
            </a:pPr>
            <a:r>
              <a:rPr lang="en-US" sz="50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Conmmunication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89625" y="5728947"/>
            <a:ext cx="6109216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9"/>
              </a:lnSpc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126157020  Jagannivasan P</a:t>
            </a:r>
          </a:p>
          <a:p>
            <a:pPr algn="just">
              <a:lnSpc>
                <a:spcPts val="3839"/>
              </a:lnSpc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126157035  Muhammad Nadeem T</a:t>
            </a:r>
          </a:p>
          <a:p>
            <a:pPr algn="just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126157005  Akash 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0602" y="196828"/>
            <a:ext cx="17959134" cy="9910974"/>
            <a:chOff x="0" y="0"/>
            <a:chExt cx="4729978" cy="26102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29978" cy="2610298"/>
            </a:xfrm>
            <a:custGeom>
              <a:avLst/>
              <a:gdLst/>
              <a:ahLst/>
              <a:cxnLst/>
              <a:rect r="r" b="b" t="t" l="l"/>
              <a:pathLst>
                <a:path h="2610298" w="472997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92782" y="374073"/>
            <a:ext cx="15544800" cy="1149657"/>
            <a:chOff x="0" y="0"/>
            <a:chExt cx="20726400" cy="15328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532876"/>
            </a:xfrm>
            <a:custGeom>
              <a:avLst/>
              <a:gdLst/>
              <a:ahLst/>
              <a:cxnLst/>
              <a:rect r="r" b="b" t="t" l="l"/>
              <a:pathLst>
                <a:path h="1532876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532876"/>
                  </a:lnTo>
                  <a:lnTo>
                    <a:pt x="0" y="15328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20726400" cy="165670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LAYOUT OF THIS PRESENTATION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2900395"/>
            <a:ext cx="9784731" cy="4486210"/>
            <a:chOff x="0" y="0"/>
            <a:chExt cx="13046307" cy="59816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46308" cy="5981614"/>
            </a:xfrm>
            <a:custGeom>
              <a:avLst/>
              <a:gdLst/>
              <a:ahLst/>
              <a:cxnLst/>
              <a:rect r="r" b="b" t="t" l="l"/>
              <a:pathLst>
                <a:path h="5981614" w="13046308">
                  <a:moveTo>
                    <a:pt x="0" y="0"/>
                  </a:moveTo>
                  <a:lnTo>
                    <a:pt x="13046308" y="0"/>
                  </a:lnTo>
                  <a:lnTo>
                    <a:pt x="13046308" y="5981614"/>
                  </a:lnTo>
                  <a:lnTo>
                    <a:pt x="0" y="5981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13046307" cy="608638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977257" indent="-488628" lvl="1">
                <a:lnSpc>
                  <a:spcPts val="6479"/>
                </a:lnSpc>
                <a:buFont typeface="Arial"/>
                <a:buChar char="•"/>
              </a:pPr>
              <a:r>
                <a:rPr lang="en-US" sz="5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Abstract</a:t>
              </a:r>
            </a:p>
            <a:p>
              <a:pPr algn="l" marL="977257" indent="-488628" lvl="1">
                <a:lnSpc>
                  <a:spcPts val="6479"/>
                </a:lnSpc>
                <a:buFont typeface="Arial"/>
                <a:buChar char="•"/>
              </a:pPr>
              <a:r>
                <a:rPr lang="en-US" sz="5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Introduction</a:t>
              </a:r>
            </a:p>
            <a:p>
              <a:pPr algn="l" marL="977257" indent="-488628" lvl="1">
                <a:lnSpc>
                  <a:spcPts val="6479"/>
                </a:lnSpc>
                <a:buFont typeface="Arial"/>
                <a:buChar char="•"/>
              </a:pPr>
              <a:r>
                <a:rPr lang="en-US" sz="5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Objective</a:t>
              </a:r>
            </a:p>
            <a:p>
              <a:pPr algn="l" marL="977257" indent="-488628" lvl="1">
                <a:lnSpc>
                  <a:spcPts val="6479"/>
                </a:lnSpc>
                <a:buFont typeface="Arial"/>
                <a:buChar char="•"/>
              </a:pPr>
              <a:r>
                <a:rPr lang="en-US" sz="5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Base Paper</a:t>
              </a:r>
            </a:p>
            <a:p>
              <a:pPr algn="l" marL="976571" indent="-488286" lvl="1">
                <a:lnSpc>
                  <a:spcPts val="6479"/>
                </a:lnSpc>
                <a:buFont typeface="Arial"/>
                <a:buChar char="•"/>
              </a:pPr>
              <a:r>
                <a:rPr lang="en-US" sz="5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Problem Statement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92782" y="9324975"/>
            <a:ext cx="578768" cy="578768"/>
            <a:chOff x="0" y="0"/>
            <a:chExt cx="152433" cy="1524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433" cy="152433"/>
            </a:xfrm>
            <a:custGeom>
              <a:avLst/>
              <a:gdLst/>
              <a:ahLst/>
              <a:cxnLst/>
              <a:rect r="r" b="b" t="t" l="l"/>
              <a:pathLst>
                <a:path h="152433" w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680104" y="2900395"/>
            <a:ext cx="8936135" cy="4873179"/>
            <a:chOff x="0" y="0"/>
            <a:chExt cx="11914846" cy="64975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914846" cy="6497572"/>
            </a:xfrm>
            <a:custGeom>
              <a:avLst/>
              <a:gdLst/>
              <a:ahLst/>
              <a:cxnLst/>
              <a:rect r="r" b="b" t="t" l="l"/>
              <a:pathLst>
                <a:path h="6497572" w="11914846">
                  <a:moveTo>
                    <a:pt x="0" y="0"/>
                  </a:moveTo>
                  <a:lnTo>
                    <a:pt x="11914846" y="0"/>
                  </a:lnTo>
                  <a:lnTo>
                    <a:pt x="11914846" y="6497572"/>
                  </a:lnTo>
                  <a:lnTo>
                    <a:pt x="0" y="64975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04775"/>
              <a:ext cx="11914846" cy="660234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976571" indent="-488286" lvl="1">
                <a:lnSpc>
                  <a:spcPts val="6479"/>
                </a:lnSpc>
                <a:buFont typeface="Arial"/>
                <a:buChar char="•"/>
              </a:pPr>
              <a:r>
                <a:rPr lang="en-US" sz="5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Literature survey</a:t>
              </a:r>
            </a:p>
            <a:p>
              <a:pPr algn="l" marL="976571" indent="-488286" lvl="1">
                <a:lnSpc>
                  <a:spcPts val="6479"/>
                </a:lnSpc>
                <a:buFont typeface="Arial"/>
                <a:buChar char="•"/>
              </a:pPr>
              <a:r>
                <a:rPr lang="en-US" sz="5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Proposed technique</a:t>
              </a:r>
            </a:p>
            <a:p>
              <a:pPr algn="l" marL="976571" indent="-488286" lvl="1">
                <a:lnSpc>
                  <a:spcPts val="6479"/>
                </a:lnSpc>
                <a:buFont typeface="Arial"/>
                <a:buChar char="•"/>
              </a:pPr>
              <a:r>
                <a:rPr lang="en-US" sz="5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Modules</a:t>
              </a:r>
            </a:p>
            <a:p>
              <a:pPr algn="l" marL="976571" indent="-488286" lvl="1">
                <a:lnSpc>
                  <a:spcPts val="6479"/>
                </a:lnSpc>
                <a:buFont typeface="Arial"/>
                <a:buChar char="•"/>
              </a:pPr>
              <a:r>
                <a:rPr lang="en-US" sz="5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Conclusion</a:t>
              </a:r>
            </a:p>
            <a:p>
              <a:pPr algn="l" marL="976571" indent="-488286" lvl="1">
                <a:lnSpc>
                  <a:spcPts val="6479"/>
                </a:lnSpc>
                <a:buFont typeface="Arial"/>
                <a:buChar char="•"/>
              </a:pPr>
              <a:r>
                <a:rPr lang="en-US" sz="5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References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3976138" y="404027"/>
            <a:ext cx="3922888" cy="880198"/>
          </a:xfrm>
          <a:custGeom>
            <a:avLst/>
            <a:gdLst/>
            <a:ahLst/>
            <a:cxnLst/>
            <a:rect r="r" b="b" t="t" l="l"/>
            <a:pathLst>
              <a:path h="880198" w="392288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5490814" y="9030873"/>
            <a:ext cx="1853882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18/02/2025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077" y="196828"/>
            <a:ext cx="17959134" cy="9910974"/>
            <a:chOff x="0" y="0"/>
            <a:chExt cx="4729978" cy="26102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29978" cy="2610298"/>
            </a:xfrm>
            <a:custGeom>
              <a:avLst/>
              <a:gdLst/>
              <a:ahLst/>
              <a:cxnLst/>
              <a:rect r="r" b="b" t="t" l="l"/>
              <a:pathLst>
                <a:path h="2610298" w="472997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92782" y="196828"/>
            <a:ext cx="13970595" cy="1285882"/>
            <a:chOff x="0" y="0"/>
            <a:chExt cx="18627460" cy="17145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627460" cy="1714510"/>
            </a:xfrm>
            <a:custGeom>
              <a:avLst/>
              <a:gdLst/>
              <a:ahLst/>
              <a:cxnLst/>
              <a:rect r="r" b="b" t="t" l="l"/>
              <a:pathLst>
                <a:path h="1714510" w="1862746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ABSTRACT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92782" y="1314450"/>
            <a:ext cx="16639161" cy="798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43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modern IoT-based healthcare applications, such as pacemakers, insulin injectors, actuators, </a:t>
            </a: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sensors, and RFID tags, secure communication is essential to ensure the integrity and confidentiality of sensitive data.</a:t>
            </a:r>
          </a:p>
          <a:p>
            <a:pPr algn="just" marL="647698" indent="-323849" lvl="1">
              <a:lnSpc>
                <a:spcPts val="43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applications often rely on resource-constrained devices, which pose challenges when implementing traditional cryptographic algorithms.</a:t>
            </a:r>
          </a:p>
          <a:p>
            <a:pPr algn="just" marL="647698" indent="-323849" lvl="1">
              <a:lnSpc>
                <a:spcPts val="43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mini-project focuses on applying Lightweight Cryptography (LWC) using the SPECK-R algorithm to address these security needs in IoT environments.</a:t>
            </a:r>
          </a:p>
          <a:p>
            <a:pPr algn="just" marL="647698" indent="-323849" lvl="1">
              <a:lnSpc>
                <a:spcPts val="43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ESP32 microcontrollers as transmitters and receivers, the system encrypts and decrypts frequency-based signals, ensuring secure communication between devices.</a:t>
            </a:r>
          </a:p>
          <a:p>
            <a:pPr algn="just" marL="647698" indent="-323849" lvl="1">
              <a:lnSpc>
                <a:spcPts val="43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such environments, where attackers can eavesdrop, replay, or alter messages over public channels, implementing SPECK-R provides an eﬃcient and optimized cryptographic solution.</a:t>
            </a:r>
          </a:p>
          <a:p>
            <a:pPr algn="just" marL="647698" indent="-323849" lvl="1">
              <a:lnSpc>
                <a:spcPts val="43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SPECK-R's lightweight design ensures minimal impact on processing power and memory, making it an ideal choice for IoT devices in healthcare and other resource-constrained applications, enhancing security without compromising performance.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92782" y="9324975"/>
            <a:ext cx="578768" cy="578768"/>
            <a:chOff x="0" y="0"/>
            <a:chExt cx="152433" cy="1524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433" cy="152433"/>
            </a:xfrm>
            <a:custGeom>
              <a:avLst/>
              <a:gdLst/>
              <a:ahLst/>
              <a:cxnLst/>
              <a:rect r="r" b="b" t="t" l="l"/>
              <a:pathLst>
                <a:path h="152433" w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976138" y="404027"/>
            <a:ext cx="3922888" cy="880198"/>
          </a:xfrm>
          <a:custGeom>
            <a:avLst/>
            <a:gdLst/>
            <a:ahLst/>
            <a:cxnLst/>
            <a:rect r="r" b="b" t="t" l="l"/>
            <a:pathLst>
              <a:path h="880198" w="392288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490814" y="9030873"/>
            <a:ext cx="1853882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18/02/2025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77" y="196828"/>
            <a:ext cx="17959134" cy="9910974"/>
            <a:chOff x="0" y="0"/>
            <a:chExt cx="4729978" cy="26102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9978" cy="2610298"/>
            </a:xfrm>
            <a:custGeom>
              <a:avLst/>
              <a:gdLst/>
              <a:ahLst/>
              <a:cxnLst/>
              <a:rect r="r" b="b" t="t" l="l"/>
              <a:pathLst>
                <a:path h="2610298" w="472997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2782" y="9324975"/>
            <a:ext cx="578768" cy="578768"/>
            <a:chOff x="0" y="0"/>
            <a:chExt cx="152433" cy="1524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33" cy="152433"/>
            </a:xfrm>
            <a:custGeom>
              <a:avLst/>
              <a:gdLst/>
              <a:ahLst/>
              <a:cxnLst/>
              <a:rect r="r" b="b" t="t" l="l"/>
              <a:pathLst>
                <a:path h="152433" w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10741" y="1394702"/>
            <a:ext cx="16866518" cy="731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50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rapidly evolving digital world, IoT devices generate and process vast amounts of sensitive data. Ensuring data protection is crucial to prevent unauthorized access, data breaches, and cyber threats.</a:t>
            </a:r>
          </a:p>
          <a:p>
            <a:pPr algn="just" marL="647698" indent="-323849" lvl="1">
              <a:lnSpc>
                <a:spcPts val="50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fundamental principles of Information Security—Confidentiality, Integrity, and Availability (CIA)—are critical in IoT networks.</a:t>
            </a:r>
          </a:p>
          <a:p>
            <a:pPr algn="just" marL="647698" indent="-323849" lvl="1">
              <a:lnSpc>
                <a:spcPts val="50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 resource constraints of IoT devices make it challenging to implement traditional cryptographic solutions (like AES, RSA) without compromising performance and efficiency.</a:t>
            </a:r>
          </a:p>
          <a:p>
            <a:pPr algn="just" marL="647698" indent="-323849" lvl="1">
              <a:lnSpc>
                <a:spcPts val="50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address these challenges, Lightweight Cryptography (LWC) is designed to provide robust security with minimal computational overhead. </a:t>
            </a:r>
          </a:p>
          <a:p>
            <a:pPr algn="just" marL="647698" indent="-323849" lvl="1">
              <a:lnSpc>
                <a:spcPts val="50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optimizing encryption algorithms for power, memory, and processing efficiency, LWC ensures secure communication in resource-constrained IoT environments.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92782" y="196828"/>
            <a:ext cx="13970595" cy="1285882"/>
            <a:chOff x="0" y="0"/>
            <a:chExt cx="18627460" cy="17145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27460" cy="1714510"/>
            </a:xfrm>
            <a:custGeom>
              <a:avLst/>
              <a:gdLst/>
              <a:ahLst/>
              <a:cxnLst/>
              <a:rect r="r" b="b" t="t" l="l"/>
              <a:pathLst>
                <a:path h="1714510" w="1862746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976138" y="404027"/>
            <a:ext cx="3922888" cy="880198"/>
          </a:xfrm>
          <a:custGeom>
            <a:avLst/>
            <a:gdLst/>
            <a:ahLst/>
            <a:cxnLst/>
            <a:rect r="r" b="b" t="t" l="l"/>
            <a:pathLst>
              <a:path h="880198" w="392288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490814" y="9030873"/>
            <a:ext cx="1853882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18/02/2025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077" y="196828"/>
            <a:ext cx="17959134" cy="9910974"/>
            <a:chOff x="0" y="0"/>
            <a:chExt cx="4729978" cy="26102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29978" cy="2610298"/>
            </a:xfrm>
            <a:custGeom>
              <a:avLst/>
              <a:gdLst/>
              <a:ahLst/>
              <a:cxnLst/>
              <a:rect r="r" b="b" t="t" l="l"/>
              <a:pathLst>
                <a:path h="2610298" w="472997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92782" y="9324975"/>
            <a:ext cx="578768" cy="578768"/>
            <a:chOff x="0" y="0"/>
            <a:chExt cx="152433" cy="1524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433" cy="152433"/>
            </a:xfrm>
            <a:custGeom>
              <a:avLst/>
              <a:gdLst/>
              <a:ahLst/>
              <a:cxnLst/>
              <a:rect r="r" b="b" t="t" l="l"/>
              <a:pathLst>
                <a:path h="152433" w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5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10741" y="1591839"/>
            <a:ext cx="16866518" cy="2716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515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implement a secure communication system to enhance the security of IoT networks. The framework addresses the resource constraints of IoT devices across various applications.</a:t>
            </a:r>
          </a:p>
          <a:p>
            <a:pPr algn="just" marL="647698" indent="-323849" lvl="1">
              <a:lnSpc>
                <a:spcPts val="515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Implementing SPECK-R Lightweight Cryptographic Algorithm for communication between ESP32 microcontrollers.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92782" y="196828"/>
            <a:ext cx="13970595" cy="1285882"/>
            <a:chOff x="0" y="0"/>
            <a:chExt cx="18627460" cy="17145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627460" cy="1714510"/>
            </a:xfrm>
            <a:custGeom>
              <a:avLst/>
              <a:gdLst/>
              <a:ahLst/>
              <a:cxnLst/>
              <a:rect r="r" b="b" t="t" l="l"/>
              <a:pathLst>
                <a:path h="1714510" w="1862746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OBJECTIVE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976138" y="404027"/>
            <a:ext cx="3922888" cy="880198"/>
          </a:xfrm>
          <a:custGeom>
            <a:avLst/>
            <a:gdLst/>
            <a:ahLst/>
            <a:cxnLst/>
            <a:rect r="r" b="b" t="t" l="l"/>
            <a:pathLst>
              <a:path h="880198" w="392288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490814" y="9030873"/>
            <a:ext cx="1853882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18/02/2025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077" y="196828"/>
            <a:ext cx="17959134" cy="9910974"/>
            <a:chOff x="0" y="0"/>
            <a:chExt cx="4729978" cy="26102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29978" cy="2610298"/>
            </a:xfrm>
            <a:custGeom>
              <a:avLst/>
              <a:gdLst/>
              <a:ahLst/>
              <a:cxnLst/>
              <a:rect r="r" b="b" t="t" l="l"/>
              <a:pathLst>
                <a:path h="2610298" w="472997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85132" y="1812739"/>
            <a:ext cx="16674168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Sleem, L., Couturier, R. Speck-R: An ultra light-weight cryptographic scheme for Internet of Things. Multimed Tools Appl 80, 17067–17102 (2021).</a:t>
            </a:r>
          </a:p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" tooltip="https://doi.org/10.1007/s11042-020-09625-8"/>
              </a:rPr>
              <a:t>https://doi.org/10.1007/s11042-020-09625-8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92782" y="9324975"/>
            <a:ext cx="578768" cy="578768"/>
            <a:chOff x="0" y="0"/>
            <a:chExt cx="152433" cy="1524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433" cy="152433"/>
            </a:xfrm>
            <a:custGeom>
              <a:avLst/>
              <a:gdLst/>
              <a:ahLst/>
              <a:cxnLst/>
              <a:rect r="r" b="b" t="t" l="l"/>
              <a:pathLst>
                <a:path h="152433" w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92782" y="196828"/>
            <a:ext cx="13970595" cy="1285882"/>
            <a:chOff x="0" y="0"/>
            <a:chExt cx="18627460" cy="17145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627460" cy="1714510"/>
            </a:xfrm>
            <a:custGeom>
              <a:avLst/>
              <a:gdLst/>
              <a:ahLst/>
              <a:cxnLst/>
              <a:rect r="r" b="b" t="t" l="l"/>
              <a:pathLst>
                <a:path h="1714510" w="1862746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BASE PAPER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976138" y="404027"/>
            <a:ext cx="3922888" cy="880198"/>
          </a:xfrm>
          <a:custGeom>
            <a:avLst/>
            <a:gdLst/>
            <a:ahLst/>
            <a:cxnLst/>
            <a:rect r="r" b="b" t="t" l="l"/>
            <a:pathLst>
              <a:path h="880198" w="392288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490814" y="9030873"/>
            <a:ext cx="1853882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18/02/2025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077" y="196828"/>
            <a:ext cx="17959134" cy="9910974"/>
            <a:chOff x="0" y="0"/>
            <a:chExt cx="4729978" cy="26102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29978" cy="2610298"/>
            </a:xfrm>
            <a:custGeom>
              <a:avLst/>
              <a:gdLst/>
              <a:ahLst/>
              <a:cxnLst/>
              <a:rect r="r" b="b" t="t" l="l"/>
              <a:pathLst>
                <a:path h="2610298" w="472997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92782" y="9324975"/>
            <a:ext cx="578768" cy="578768"/>
            <a:chOff x="0" y="0"/>
            <a:chExt cx="152433" cy="1524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433" cy="152433"/>
            </a:xfrm>
            <a:custGeom>
              <a:avLst/>
              <a:gdLst/>
              <a:ahLst/>
              <a:cxnLst/>
              <a:rect r="r" b="b" t="t" l="l"/>
              <a:pathLst>
                <a:path h="152433" w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7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92782" y="1713790"/>
            <a:ext cx="16866518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50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implement SPECK-R for minimizing computational overhead, power consumption, and latency while ensuring robust encryption for sensitive data transmission in IoT environments like healthcare, industrial automation, smart homes, and wearable devices.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92782" y="196828"/>
            <a:ext cx="13970595" cy="1285882"/>
            <a:chOff x="0" y="0"/>
            <a:chExt cx="18627460" cy="17145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627460" cy="1714510"/>
            </a:xfrm>
            <a:custGeom>
              <a:avLst/>
              <a:gdLst/>
              <a:ahLst/>
              <a:cxnLst/>
              <a:rect r="r" b="b" t="t" l="l"/>
              <a:pathLst>
                <a:path h="1714510" w="1862746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 STATEMENT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976138" y="404027"/>
            <a:ext cx="3922888" cy="880198"/>
          </a:xfrm>
          <a:custGeom>
            <a:avLst/>
            <a:gdLst/>
            <a:ahLst/>
            <a:cxnLst/>
            <a:rect r="r" b="b" t="t" l="l"/>
            <a:pathLst>
              <a:path h="880198" w="392288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490814" y="9030873"/>
            <a:ext cx="1853882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18/02/2025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077" y="196828"/>
            <a:ext cx="17959134" cy="9910974"/>
            <a:chOff x="0" y="0"/>
            <a:chExt cx="4729978" cy="26102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29978" cy="2610298"/>
            </a:xfrm>
            <a:custGeom>
              <a:avLst/>
              <a:gdLst/>
              <a:ahLst/>
              <a:cxnLst/>
              <a:rect r="r" b="b" t="t" l="l"/>
              <a:pathLst>
                <a:path h="2610298" w="472997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514350" y="1642268"/>
          <a:ext cx="17259300" cy="7455075"/>
        </p:xfrm>
        <a:graphic>
          <a:graphicData uri="http://schemas.openxmlformats.org/drawingml/2006/table">
            <a:tbl>
              <a:tblPr/>
              <a:tblGrid>
                <a:gridCol w="1722736"/>
                <a:gridCol w="2756719"/>
                <a:gridCol w="7090395"/>
                <a:gridCol w="4522531"/>
                <a:gridCol w="1166919"/>
              </a:tblGrid>
              <a:tr h="101982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b="true" sz="24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AUTHOR</a:t>
                      </a:r>
                      <a:endParaRPr lang="en-US" sz="1100"/>
                    </a:p>
                    <a:p>
                      <a:pPr algn="l">
                        <a:lnSpc>
                          <a:spcPts val="2879"/>
                        </a:lnSpc>
                      </a:pP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       TITLE</a:t>
                      </a:r>
                      <a:endParaRPr lang="en-US" sz="1100"/>
                    </a:p>
                    <a:p>
                      <a:pPr algn="l">
                        <a:lnSpc>
                          <a:spcPts val="2879"/>
                        </a:lnSpc>
                      </a:pP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APPROACH DESCRIPTION AND ACHIEVEMENTS 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LIMITATIONS/</a:t>
                      </a:r>
                      <a:endParaRPr lang="en-US" sz="1100"/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b="true" sz="24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OBSERVATION </a:t>
                      </a: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YEAR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14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Kerry A. McKay</a:t>
                      </a:r>
                      <a:endParaRPr lang="en-US" sz="1100"/>
                    </a:p>
                    <a:p>
                      <a:pPr algn="l">
                        <a:lnSpc>
                          <a:spcPts val="3219"/>
                        </a:lnSpc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Larry Bassham</a:t>
                      </a:r>
                    </a:p>
                    <a:p>
                      <a:pPr algn="l">
                        <a:lnSpc>
                          <a:spcPts val="3219"/>
                        </a:lnSpc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Meltem Sönmez Turan</a:t>
                      </a:r>
                    </a:p>
                    <a:p>
                      <a:pPr algn="l">
                        <a:lnSpc>
                          <a:spcPts val="3219"/>
                        </a:lnSpc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Nicky Mouha</a:t>
                      </a: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Report on Lightweight Cryptography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NIST held public workshops and collected feedback to shape lightweight cryptography requirements, Development of profile templates to define physical, performance, and security characteristics for different cryptographic application.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Lightweight cryptography must balance security strength with constrained resource availability, different environments require tailored cryptographic solutions, reinforcing the need for adaptable algorithms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2017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37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Levent Ertaul, Arpit Chauhan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IoT Security: Implementation of Xtea,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Simon/Speck Lightweight Block Ciphers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Implemented Xtea, Simon, and Speck lightweight encryption algorithms on an ESP8266 microcontroller to enhance IoT security, End-to-end encryption was used to ensure data confidentiality throughout transmission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Simon/Speck offers strong security but requires more processing time and power compared to Xtea.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 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392782" y="9324975"/>
            <a:ext cx="578768" cy="578768"/>
            <a:chOff x="0" y="0"/>
            <a:chExt cx="152433" cy="1524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433" cy="152433"/>
            </a:xfrm>
            <a:custGeom>
              <a:avLst/>
              <a:gdLst/>
              <a:ahLst/>
              <a:cxnLst/>
              <a:rect r="r" b="b" t="t" l="l"/>
              <a:pathLst>
                <a:path h="152433" w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8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92782" y="196828"/>
            <a:ext cx="13970595" cy="1285882"/>
            <a:chOff x="0" y="0"/>
            <a:chExt cx="18627460" cy="17145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627460" cy="1714510"/>
            </a:xfrm>
            <a:custGeom>
              <a:avLst/>
              <a:gdLst/>
              <a:ahLst/>
              <a:cxnLst/>
              <a:rect r="r" b="b" t="t" l="l"/>
              <a:pathLst>
                <a:path h="1714510" w="1862746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SURVEY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976138" y="404027"/>
            <a:ext cx="3922888" cy="880198"/>
          </a:xfrm>
          <a:custGeom>
            <a:avLst/>
            <a:gdLst/>
            <a:ahLst/>
            <a:cxnLst/>
            <a:rect r="r" b="b" t="t" l="l"/>
            <a:pathLst>
              <a:path h="880198" w="392288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586064" y="9097548"/>
            <a:ext cx="1853882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18/02/2025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077" y="196828"/>
            <a:ext cx="17959134" cy="9910974"/>
            <a:chOff x="0" y="0"/>
            <a:chExt cx="4729978" cy="26102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29978" cy="2610298"/>
            </a:xfrm>
            <a:custGeom>
              <a:avLst/>
              <a:gdLst/>
              <a:ahLst/>
              <a:cxnLst/>
              <a:rect r="r" b="b" t="t" l="l"/>
              <a:pathLst>
                <a:path h="2610298" w="472997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510994" y="1701717"/>
          <a:ext cx="17259300" cy="7243685"/>
        </p:xfrm>
        <a:graphic>
          <a:graphicData uri="http://schemas.openxmlformats.org/drawingml/2006/table">
            <a:tbl>
              <a:tblPr/>
              <a:tblGrid>
                <a:gridCol w="1722736"/>
                <a:gridCol w="2756719"/>
                <a:gridCol w="7090395"/>
                <a:gridCol w="4522531"/>
                <a:gridCol w="1166919"/>
              </a:tblGrid>
              <a:tr h="10198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b="true" sz="24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AUTHOR</a:t>
                      </a:r>
                      <a:endParaRPr lang="en-US" sz="1100"/>
                    </a:p>
                    <a:p>
                      <a:pPr algn="l">
                        <a:lnSpc>
                          <a:spcPts val="2879"/>
                        </a:lnSpc>
                      </a:pP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       TITLE</a:t>
                      </a:r>
                      <a:endParaRPr lang="en-US" sz="1100"/>
                    </a:p>
                    <a:p>
                      <a:pPr algn="l">
                        <a:lnSpc>
                          <a:spcPts val="2879"/>
                        </a:lnSpc>
                      </a:pP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APPROACH DESCRIPTION AND ACHIEVEMENTS 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LIMITATIONS/</a:t>
                      </a:r>
                      <a:endParaRPr lang="en-US" sz="1100"/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b="true" sz="24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OBSERVATION </a:t>
                      </a: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YEAR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07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Guy L. Steele Jr,</a:t>
                      </a:r>
                      <a:endParaRPr lang="en-US" sz="1100"/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Doug Lea,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Christine H. Flood</a:t>
                      </a: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Fast Splittable Pseudorandom Number Generators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Derived SPLITMIX from DOTMIX, refining it with engineering improvements for higher speed and better randomnes, Developed SPLITMIX, a fast splittable pseudorandom number generator (PRNG), Implemented a splittable PRNG model to enhance parallel computing efficiency without requiring locks or synchronization​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Compared to older PRNGs, SPLITMIX offers better statistical properties and avoids common issues like short periods and thread contention​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2014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30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Qian Yu and Chang N. Zhang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RC4 State and Its Applications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Introduced an RC4 state-based hash function for efficient Message Authentication Code (MAC) generation, suitable for resource-constrained environments, Developed an RC4 state-based security protocol that enhances data confidentiality, authentication, integrity, and freshness with minimal overhead.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proposed approach requires half the execution time compared to WEP and RC5-based protocols, making it twice as efficient.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2011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392782" y="9324975"/>
            <a:ext cx="578768" cy="578768"/>
            <a:chOff x="0" y="0"/>
            <a:chExt cx="152433" cy="1524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433" cy="152433"/>
            </a:xfrm>
            <a:custGeom>
              <a:avLst/>
              <a:gdLst/>
              <a:ahLst/>
              <a:cxnLst/>
              <a:rect r="r" b="b" t="t" l="l"/>
              <a:pathLst>
                <a:path h="152433" w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92782" y="196828"/>
            <a:ext cx="13970595" cy="1285882"/>
            <a:chOff x="0" y="0"/>
            <a:chExt cx="18627460" cy="17145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627460" cy="1714510"/>
            </a:xfrm>
            <a:custGeom>
              <a:avLst/>
              <a:gdLst/>
              <a:ahLst/>
              <a:cxnLst/>
              <a:rect r="r" b="b" t="t" l="l"/>
              <a:pathLst>
                <a:path h="1714510" w="1862746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SURVEY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976138" y="404027"/>
            <a:ext cx="3922888" cy="880198"/>
          </a:xfrm>
          <a:custGeom>
            <a:avLst/>
            <a:gdLst/>
            <a:ahLst/>
            <a:cxnLst/>
            <a:rect r="r" b="b" t="t" l="l"/>
            <a:pathLst>
              <a:path h="880198" w="392288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490814" y="9030873"/>
            <a:ext cx="1853882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18/02/2025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077" y="196828"/>
            <a:ext cx="17959134" cy="9910974"/>
            <a:chOff x="0" y="0"/>
            <a:chExt cx="4729978" cy="26102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29978" cy="2610298"/>
            </a:xfrm>
            <a:custGeom>
              <a:avLst/>
              <a:gdLst/>
              <a:ahLst/>
              <a:cxnLst/>
              <a:rect r="r" b="b" t="t" l="l"/>
              <a:pathLst>
                <a:path h="2610298" w="472997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92782" y="95718"/>
            <a:ext cx="15937236" cy="1285872"/>
            <a:chOff x="0" y="0"/>
            <a:chExt cx="21249648" cy="17144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49649" cy="1714496"/>
            </a:xfrm>
            <a:custGeom>
              <a:avLst/>
              <a:gdLst/>
              <a:ahLst/>
              <a:cxnLst/>
              <a:rect r="r" b="b" t="t" l="l"/>
              <a:pathLst>
                <a:path h="1714496" w="21249649">
                  <a:moveTo>
                    <a:pt x="0" y="0"/>
                  </a:moveTo>
                  <a:lnTo>
                    <a:pt x="21249649" y="0"/>
                  </a:lnTo>
                  <a:lnTo>
                    <a:pt x="21249649" y="1714496"/>
                  </a:lnTo>
                  <a:lnTo>
                    <a:pt x="0" y="17144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21249648" cy="183832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SURVEY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510994" y="1381590"/>
          <a:ext cx="17259300" cy="8232769"/>
        </p:xfrm>
        <a:graphic>
          <a:graphicData uri="http://schemas.openxmlformats.org/drawingml/2006/table">
            <a:tbl>
              <a:tblPr/>
              <a:tblGrid>
                <a:gridCol w="1722736"/>
                <a:gridCol w="2756719"/>
                <a:gridCol w="7090395"/>
                <a:gridCol w="4522531"/>
                <a:gridCol w="1166919"/>
              </a:tblGrid>
              <a:tr h="10197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b="true" sz="24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AUTHOR</a:t>
                      </a:r>
                      <a:endParaRPr lang="en-US" sz="1100"/>
                    </a:p>
                    <a:p>
                      <a:pPr algn="l">
                        <a:lnSpc>
                          <a:spcPts val="2879"/>
                        </a:lnSpc>
                      </a:pP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       TITLE</a:t>
                      </a:r>
                      <a:endParaRPr lang="en-US" sz="1100"/>
                    </a:p>
                    <a:p>
                      <a:pPr algn="l">
                        <a:lnSpc>
                          <a:spcPts val="2879"/>
                        </a:lnSpc>
                      </a:pP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APPROACH DESCRIPTION AND ACHIEVEMENTS 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LIMITATIONS/</a:t>
                      </a:r>
                      <a:endParaRPr lang="en-US" sz="1100"/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b="true" sz="24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OBSERVATION </a:t>
                      </a: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YEAR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66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Lama Sleem,</a:t>
                      </a:r>
                      <a:endParaRPr lang="en-US" sz="1100"/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Raphael Couturier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Speck-R: An ultra light-weight cryptographic scheme</a:t>
                      </a:r>
                      <a:endParaRPr lang="en-US" sz="1100"/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 Internet of Things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Combined ARX (Addition/Rotation/XOR) operations with a dynamic substitution layer, strengthening resistance against attacks. Developed Speck-R, an ultra-lightweight cryptographic algorithm based on Speck, designed for IoT security​.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Speck-R achieves a balance between fast execution and strong security, making it ideal for IoT applications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934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Indu Radhakrishnan,Shruti Jadonand, Prasad B. Honnavalli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Efficiency and Security Evaluation of Lightweight Cryptographic</a:t>
                      </a:r>
                      <a:endParaRPr lang="en-US" sz="1100"/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Algorithms for Resource-Constrained IoT Devices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Evaluated the performance of three lightweight cryptographic algorithms—AES-128, SPECK, and ASCON—on resource-constrained IoT devices, Evaluated metrics such as encryption/decryption speed, memory footprint, and power consumption to determine the most efficient algorithm​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SPECK exhibited the best performance in terms of throughput and latency, but it has moderate security when it is compared with AES-128 and ASCON.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392782" y="9324975"/>
            <a:ext cx="578768" cy="578768"/>
            <a:chOff x="0" y="0"/>
            <a:chExt cx="152433" cy="1524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433" cy="152433"/>
            </a:xfrm>
            <a:custGeom>
              <a:avLst/>
              <a:gdLst/>
              <a:ahLst/>
              <a:cxnLst/>
              <a:rect r="r" b="b" t="t" l="l"/>
              <a:pathLst>
                <a:path h="152433" w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10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976138" y="404027"/>
            <a:ext cx="3922888" cy="880198"/>
          </a:xfrm>
          <a:custGeom>
            <a:avLst/>
            <a:gdLst/>
            <a:ahLst/>
            <a:cxnLst/>
            <a:rect r="r" b="b" t="t" l="l"/>
            <a:pathLst>
              <a:path h="880198" w="392288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916412" y="9299223"/>
            <a:ext cx="1853882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18/02/2025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575" y="9525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077" y="196828"/>
            <a:ext cx="17959134" cy="9910974"/>
            <a:chOff x="0" y="0"/>
            <a:chExt cx="4729978" cy="26102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29978" cy="2610298"/>
            </a:xfrm>
            <a:custGeom>
              <a:avLst/>
              <a:gdLst/>
              <a:ahLst/>
              <a:cxnLst/>
              <a:rect r="r" b="b" t="t" l="l"/>
              <a:pathLst>
                <a:path h="2610298" w="472997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87466" y="1597931"/>
            <a:ext cx="3963258" cy="1196836"/>
            <a:chOff x="0" y="0"/>
            <a:chExt cx="1043821" cy="3152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3821" cy="315216"/>
            </a:xfrm>
            <a:custGeom>
              <a:avLst/>
              <a:gdLst/>
              <a:ahLst/>
              <a:cxnLst/>
              <a:rect r="r" b="b" t="t" l="l"/>
              <a:pathLst>
                <a:path h="315216" w="1043821">
                  <a:moveTo>
                    <a:pt x="0" y="0"/>
                  </a:moveTo>
                  <a:lnTo>
                    <a:pt x="1043821" y="0"/>
                  </a:lnTo>
                  <a:lnTo>
                    <a:pt x="1043821" y="315216"/>
                  </a:lnTo>
                  <a:lnTo>
                    <a:pt x="0" y="3152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43821" cy="353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SELECTING A SECURE SEED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466" y="3234753"/>
            <a:ext cx="3963258" cy="1196836"/>
            <a:chOff x="0" y="0"/>
            <a:chExt cx="1043821" cy="31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3821" cy="315216"/>
            </a:xfrm>
            <a:custGeom>
              <a:avLst/>
              <a:gdLst/>
              <a:ahLst/>
              <a:cxnLst/>
              <a:rect r="r" b="b" t="t" l="l"/>
              <a:pathLst>
                <a:path h="315216" w="1043821">
                  <a:moveTo>
                    <a:pt x="0" y="0"/>
                  </a:moveTo>
                  <a:lnTo>
                    <a:pt x="1043821" y="0"/>
                  </a:lnTo>
                  <a:lnTo>
                    <a:pt x="1043821" y="315216"/>
                  </a:lnTo>
                  <a:lnTo>
                    <a:pt x="0" y="3152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43821" cy="353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IMPLEMENTING PRNG (Pseudo Random Number Generator)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466" y="4869739"/>
            <a:ext cx="3963258" cy="1196836"/>
            <a:chOff x="0" y="0"/>
            <a:chExt cx="1043821" cy="3152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3821" cy="315216"/>
            </a:xfrm>
            <a:custGeom>
              <a:avLst/>
              <a:gdLst/>
              <a:ahLst/>
              <a:cxnLst/>
              <a:rect r="r" b="b" t="t" l="l"/>
              <a:pathLst>
                <a:path h="315216" w="1043821">
                  <a:moveTo>
                    <a:pt x="0" y="0"/>
                  </a:moveTo>
                  <a:lnTo>
                    <a:pt x="1043821" y="0"/>
                  </a:lnTo>
                  <a:lnTo>
                    <a:pt x="1043821" y="315216"/>
                  </a:lnTo>
                  <a:lnTo>
                    <a:pt x="0" y="3152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43821" cy="353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GENERATING S-BOXES USING DYNAMIC KEY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620114" y="1597931"/>
            <a:ext cx="2118977" cy="1196836"/>
            <a:chOff x="0" y="0"/>
            <a:chExt cx="558084" cy="3152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58084" cy="315216"/>
            </a:xfrm>
            <a:custGeom>
              <a:avLst/>
              <a:gdLst/>
              <a:ahLst/>
              <a:cxnLst/>
              <a:rect r="r" b="b" t="t" l="l"/>
              <a:pathLst>
                <a:path h="315216" w="558084">
                  <a:moveTo>
                    <a:pt x="0" y="0"/>
                  </a:moveTo>
                  <a:lnTo>
                    <a:pt x="558084" y="0"/>
                  </a:lnTo>
                  <a:lnTo>
                    <a:pt x="558084" y="315216"/>
                  </a:lnTo>
                  <a:lnTo>
                    <a:pt x="0" y="3152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58084" cy="353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NONCE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620114" y="4661982"/>
            <a:ext cx="2118977" cy="1196836"/>
            <a:chOff x="0" y="0"/>
            <a:chExt cx="558084" cy="3152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8084" cy="315216"/>
            </a:xfrm>
            <a:custGeom>
              <a:avLst/>
              <a:gdLst/>
              <a:ahLst/>
              <a:cxnLst/>
              <a:rect r="r" b="b" t="t" l="l"/>
              <a:pathLst>
                <a:path h="315216" w="558084">
                  <a:moveTo>
                    <a:pt x="0" y="0"/>
                  </a:moveTo>
                  <a:lnTo>
                    <a:pt x="558084" y="0"/>
                  </a:lnTo>
                  <a:lnTo>
                    <a:pt x="558084" y="315216"/>
                  </a:lnTo>
                  <a:lnTo>
                    <a:pt x="0" y="3152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58084" cy="353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KEY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620114" y="3234753"/>
            <a:ext cx="2118977" cy="1196836"/>
            <a:chOff x="0" y="0"/>
            <a:chExt cx="558084" cy="3152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58084" cy="315216"/>
            </a:xfrm>
            <a:custGeom>
              <a:avLst/>
              <a:gdLst/>
              <a:ahLst/>
              <a:cxnLst/>
              <a:rect r="r" b="b" t="t" l="l"/>
              <a:pathLst>
                <a:path h="315216" w="558084">
                  <a:moveTo>
                    <a:pt x="0" y="0"/>
                  </a:moveTo>
                  <a:lnTo>
                    <a:pt x="558084" y="0"/>
                  </a:lnTo>
                  <a:lnTo>
                    <a:pt x="558084" y="315216"/>
                  </a:lnTo>
                  <a:lnTo>
                    <a:pt x="0" y="3152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58084" cy="353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DYNAMIC KEY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87466" y="6504725"/>
            <a:ext cx="3963258" cy="1196836"/>
            <a:chOff x="0" y="0"/>
            <a:chExt cx="1043821" cy="3152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3821" cy="315216"/>
            </a:xfrm>
            <a:custGeom>
              <a:avLst/>
              <a:gdLst/>
              <a:ahLst/>
              <a:cxnLst/>
              <a:rect r="r" b="b" t="t" l="l"/>
              <a:pathLst>
                <a:path h="315216" w="1043821">
                  <a:moveTo>
                    <a:pt x="0" y="0"/>
                  </a:moveTo>
                  <a:lnTo>
                    <a:pt x="1043821" y="0"/>
                  </a:lnTo>
                  <a:lnTo>
                    <a:pt x="1043821" y="315216"/>
                  </a:lnTo>
                  <a:lnTo>
                    <a:pt x="0" y="3152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43821" cy="353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KEY EXPANSION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87466" y="8128139"/>
            <a:ext cx="3963258" cy="1196836"/>
            <a:chOff x="0" y="0"/>
            <a:chExt cx="1043821" cy="3152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3821" cy="315216"/>
            </a:xfrm>
            <a:custGeom>
              <a:avLst/>
              <a:gdLst/>
              <a:ahLst/>
              <a:cxnLst/>
              <a:rect r="r" b="b" t="t" l="l"/>
              <a:pathLst>
                <a:path h="315216" w="1043821">
                  <a:moveTo>
                    <a:pt x="0" y="0"/>
                  </a:moveTo>
                  <a:lnTo>
                    <a:pt x="1043821" y="0"/>
                  </a:lnTo>
                  <a:lnTo>
                    <a:pt x="1043821" y="315216"/>
                  </a:lnTo>
                  <a:lnTo>
                    <a:pt x="0" y="3152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43821" cy="353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IMPLEMENTING ROUND FUNCTION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3669095" y="2794767"/>
            <a:ext cx="0" cy="43998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2" id="32"/>
          <p:cNvSpPr/>
          <p:nvPr/>
        </p:nvSpPr>
        <p:spPr>
          <a:xfrm>
            <a:off x="3669095" y="4431589"/>
            <a:ext cx="0" cy="4381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>
            <a:off x="3688145" y="6066575"/>
            <a:ext cx="0" cy="4191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4" id="34"/>
          <p:cNvSpPr/>
          <p:nvPr/>
        </p:nvSpPr>
        <p:spPr>
          <a:xfrm>
            <a:off x="3707195" y="7709039"/>
            <a:ext cx="0" cy="4191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5" id="35"/>
          <p:cNvSpPr/>
          <p:nvPr/>
        </p:nvSpPr>
        <p:spPr>
          <a:xfrm>
            <a:off x="5650725" y="3833171"/>
            <a:ext cx="111425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 flipH="true">
            <a:off x="6764980" y="2332254"/>
            <a:ext cx="0" cy="294719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6764980" y="5260400"/>
            <a:ext cx="8551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6764980" y="3833171"/>
            <a:ext cx="8551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6764980" y="2351304"/>
            <a:ext cx="8551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392782" y="9324975"/>
            <a:ext cx="578768" cy="578768"/>
            <a:chOff x="0" y="0"/>
            <a:chExt cx="152433" cy="15243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2433" cy="152433"/>
            </a:xfrm>
            <a:custGeom>
              <a:avLst/>
              <a:gdLst/>
              <a:ahLst/>
              <a:cxnLst/>
              <a:rect r="r" b="b" t="t" l="l"/>
              <a:pathLst>
                <a:path h="152433" w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92782" y="196828"/>
            <a:ext cx="13970595" cy="1285882"/>
            <a:chOff x="0" y="0"/>
            <a:chExt cx="18627460" cy="171451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627460" cy="1714510"/>
            </a:xfrm>
            <a:custGeom>
              <a:avLst/>
              <a:gdLst/>
              <a:ahLst/>
              <a:cxnLst/>
              <a:rect r="r" b="b" t="t" l="l"/>
              <a:pathLst>
                <a:path h="1714510" w="1862746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TECHNIQUE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060780" y="2057400"/>
            <a:ext cx="5078974" cy="3410757"/>
            <a:chOff x="0" y="0"/>
            <a:chExt cx="1337672" cy="89830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37672" cy="898306"/>
            </a:xfrm>
            <a:custGeom>
              <a:avLst/>
              <a:gdLst/>
              <a:ahLst/>
              <a:cxnLst/>
              <a:rect r="r" b="b" t="t" l="l"/>
              <a:pathLst>
                <a:path h="898306" w="1337672">
                  <a:moveTo>
                    <a:pt x="0" y="0"/>
                  </a:moveTo>
                  <a:lnTo>
                    <a:pt x="1337672" y="0"/>
                  </a:lnTo>
                  <a:lnTo>
                    <a:pt x="1337672" y="898306"/>
                  </a:lnTo>
                  <a:lnTo>
                    <a:pt x="0" y="8983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337672" cy="936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1343180" y="2228850"/>
            <a:ext cx="4921561" cy="292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Requirement :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Sender and receiver must have same seed.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(Implementing symmetric key cryptography).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124511" y="7036468"/>
            <a:ext cx="3614580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4"/>
              </a:lnSpc>
            </a:pPr>
            <a:r>
              <a:rPr lang="en-US" sz="32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SPECK-R </a:t>
            </a:r>
          </a:p>
          <a:p>
            <a:pPr algn="ctr">
              <a:lnSpc>
                <a:spcPts val="3954"/>
              </a:lnSpc>
            </a:pPr>
            <a:r>
              <a:rPr lang="en-US" sz="32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ENCRYPTION /</a:t>
            </a:r>
          </a:p>
          <a:p>
            <a:pPr algn="ctr">
              <a:lnSpc>
                <a:spcPts val="3954"/>
              </a:lnSpc>
              <a:spcBef>
                <a:spcPct val="0"/>
              </a:spcBef>
            </a:pPr>
            <a:r>
              <a:rPr lang="en-US" sz="32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DECRYPTION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13976138" y="404027"/>
            <a:ext cx="3922888" cy="880198"/>
          </a:xfrm>
          <a:custGeom>
            <a:avLst/>
            <a:gdLst/>
            <a:ahLst/>
            <a:cxnLst/>
            <a:rect r="r" b="b" t="t" l="l"/>
            <a:pathLst>
              <a:path h="880198" w="392288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15490814" y="9030873"/>
            <a:ext cx="1853882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18/02/2025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077" y="196828"/>
            <a:ext cx="17959134" cy="9910974"/>
            <a:chOff x="0" y="0"/>
            <a:chExt cx="4729978" cy="26102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29978" cy="2610298"/>
            </a:xfrm>
            <a:custGeom>
              <a:avLst/>
              <a:gdLst/>
              <a:ahLst/>
              <a:cxnLst/>
              <a:rect r="r" b="b" t="t" l="l"/>
              <a:pathLst>
                <a:path h="2610298" w="472997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0684" y="740693"/>
            <a:ext cx="12716510" cy="916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50"/>
              </a:lnSpc>
            </a:pPr>
          </a:p>
          <a:p>
            <a:pPr algn="just">
              <a:lnSpc>
                <a:spcPts val="435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1. Input and Pseudo Random Number Generator Module :</a:t>
            </a:r>
          </a:p>
          <a:p>
            <a:pPr algn="just">
              <a:lnSpc>
                <a:spcPts val="435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Plaintext transformation : Converting the Plaintext into Blocks</a:t>
            </a:r>
          </a:p>
          <a:p>
            <a:pPr algn="just" marL="647700" indent="-323850" lvl="1">
              <a:lnSpc>
                <a:spcPts val="435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Submodule 1: Input : Seed.</a:t>
            </a:r>
          </a:p>
          <a:p>
            <a:pPr algn="just" marL="647700" indent="-323850" lvl="1">
              <a:lnSpc>
                <a:spcPts val="435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Submodule 2: Output : Nonce, Key, Dynamic Key.</a:t>
            </a:r>
          </a:p>
          <a:p>
            <a:pPr algn="just" marL="647700" indent="-323850" lvl="1">
              <a:lnSpc>
                <a:spcPts val="435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Submodule 3: Implementation of PRNG using SplitMix64.</a:t>
            </a:r>
          </a:p>
          <a:p>
            <a:pPr algn="just">
              <a:lnSpc>
                <a:spcPts val="4350"/>
              </a:lnSpc>
            </a:pPr>
          </a:p>
          <a:p>
            <a:pPr algn="just">
              <a:lnSpc>
                <a:spcPts val="435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2. Dynamic Substitution  Layer Module :</a:t>
            </a:r>
          </a:p>
          <a:p>
            <a:pPr algn="just" marL="647700" indent="-323850" lvl="1">
              <a:lnSpc>
                <a:spcPts val="435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Submodule 1: Input as Dynamic Key.</a:t>
            </a:r>
          </a:p>
          <a:p>
            <a:pPr algn="just" marL="647700" indent="-323850" lvl="1">
              <a:lnSpc>
                <a:spcPts val="435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Submodule 2: Implementation using KSA for RC4.</a:t>
            </a:r>
          </a:p>
          <a:p>
            <a:pPr algn="just">
              <a:lnSpc>
                <a:spcPts val="4350"/>
              </a:lnSpc>
            </a:pPr>
          </a:p>
          <a:p>
            <a:pPr algn="just">
              <a:lnSpc>
                <a:spcPts val="435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3. Key Expansion Module 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Expanding the key for Round Function.</a:t>
            </a:r>
          </a:p>
          <a:p>
            <a:pPr algn="just">
              <a:lnSpc>
                <a:spcPts val="4350"/>
              </a:lnSpc>
            </a:pPr>
          </a:p>
          <a:p>
            <a:pPr algn="just">
              <a:lnSpc>
                <a:spcPts val="435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4.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Encryption/Decryption Module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Implementing the Round Function.</a:t>
            </a:r>
          </a:p>
          <a:p>
            <a:pPr algn="just">
              <a:lnSpc>
                <a:spcPts val="4350"/>
              </a:lnSpc>
            </a:pPr>
          </a:p>
          <a:p>
            <a:pPr algn="just">
              <a:lnSpc>
                <a:spcPts val="435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392782" y="9324975"/>
            <a:ext cx="578768" cy="578768"/>
            <a:chOff x="0" y="0"/>
            <a:chExt cx="152433" cy="1524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433" cy="152433"/>
            </a:xfrm>
            <a:custGeom>
              <a:avLst/>
              <a:gdLst/>
              <a:ahLst/>
              <a:cxnLst/>
              <a:rect r="r" b="b" t="t" l="l"/>
              <a:pathLst>
                <a:path h="152433" w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92782" y="196828"/>
            <a:ext cx="13970595" cy="1285882"/>
            <a:chOff x="0" y="0"/>
            <a:chExt cx="18627460" cy="17145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627460" cy="1714510"/>
            </a:xfrm>
            <a:custGeom>
              <a:avLst/>
              <a:gdLst/>
              <a:ahLst/>
              <a:cxnLst/>
              <a:rect r="r" b="b" t="t" l="l"/>
              <a:pathLst>
                <a:path h="1714510" w="1862746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MODULES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976138" y="404027"/>
            <a:ext cx="3922888" cy="880198"/>
          </a:xfrm>
          <a:custGeom>
            <a:avLst/>
            <a:gdLst/>
            <a:ahLst/>
            <a:cxnLst/>
            <a:rect r="r" b="b" t="t" l="l"/>
            <a:pathLst>
              <a:path h="880198" w="392288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490814" y="9030873"/>
            <a:ext cx="1853882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18/02/2025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077" y="196828"/>
            <a:ext cx="17959134" cy="9910974"/>
            <a:chOff x="0" y="0"/>
            <a:chExt cx="4729978" cy="26102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29978" cy="2610298"/>
            </a:xfrm>
            <a:custGeom>
              <a:avLst/>
              <a:gdLst/>
              <a:ahLst/>
              <a:cxnLst/>
              <a:rect r="r" b="b" t="t" l="l"/>
              <a:pathLst>
                <a:path h="2610298" w="472997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92782" y="9324975"/>
            <a:ext cx="578768" cy="578768"/>
            <a:chOff x="0" y="0"/>
            <a:chExt cx="152433" cy="1524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433" cy="152433"/>
            </a:xfrm>
            <a:custGeom>
              <a:avLst/>
              <a:gdLst/>
              <a:ahLst/>
              <a:cxnLst/>
              <a:rect r="r" b="b" t="t" l="l"/>
              <a:pathLst>
                <a:path h="152433" w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13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92782" y="1780465"/>
            <a:ext cx="16866518" cy="541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59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solution addresses the security challenges of resource-constrained IoT environments by implementing the ultra-lightweight SPECK-R cryptographic algorithm.</a:t>
            </a:r>
          </a:p>
          <a:p>
            <a:pPr algn="just" marL="647698" indent="-323849" lvl="1">
              <a:lnSpc>
                <a:spcPts val="59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optimizing encryption for minimal computational overhead, power consumption, and latency, this approach ensures secure and efficient data transmission in applications like healthcare, industrial automation, smart homes, and wearable devices.</a:t>
            </a:r>
          </a:p>
          <a:p>
            <a:pPr algn="just" marL="647698" indent="-323849" lvl="1">
              <a:lnSpc>
                <a:spcPts val="59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algorithm passes statistical tests to ensure cryptographic robustness and performance tests to validate its efficiency, making it a reliable solution for IoT security.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92782" y="196828"/>
            <a:ext cx="13970595" cy="1285882"/>
            <a:chOff x="0" y="0"/>
            <a:chExt cx="18627460" cy="17145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627460" cy="1714510"/>
            </a:xfrm>
            <a:custGeom>
              <a:avLst/>
              <a:gdLst/>
              <a:ahLst/>
              <a:cxnLst/>
              <a:rect r="r" b="b" t="t" l="l"/>
              <a:pathLst>
                <a:path h="1714510" w="1862746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CONCLUSION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976138" y="404027"/>
            <a:ext cx="3922888" cy="880198"/>
          </a:xfrm>
          <a:custGeom>
            <a:avLst/>
            <a:gdLst/>
            <a:ahLst/>
            <a:cxnLst/>
            <a:rect r="r" b="b" t="t" l="l"/>
            <a:pathLst>
              <a:path h="880198" w="392288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500339" y="9030873"/>
            <a:ext cx="1853882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18/02/2025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77" y="196828"/>
            <a:ext cx="17959134" cy="9910974"/>
            <a:chOff x="0" y="0"/>
            <a:chExt cx="4729978" cy="26102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9978" cy="2610298"/>
            </a:xfrm>
            <a:custGeom>
              <a:avLst/>
              <a:gdLst/>
              <a:ahLst/>
              <a:cxnLst/>
              <a:rect r="r" b="b" t="t" l="l"/>
              <a:pathLst>
                <a:path h="2610298" w="472997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2782" y="9324975"/>
            <a:ext cx="578768" cy="578768"/>
            <a:chOff x="0" y="0"/>
            <a:chExt cx="152433" cy="1524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33" cy="152433"/>
            </a:xfrm>
            <a:custGeom>
              <a:avLst/>
              <a:gdLst/>
              <a:ahLst/>
              <a:cxnLst/>
              <a:rect r="r" b="b" t="t" l="l"/>
              <a:pathLst>
                <a:path h="152433" w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2782" y="196828"/>
            <a:ext cx="13970595" cy="1285882"/>
            <a:chOff x="0" y="0"/>
            <a:chExt cx="18627460" cy="17145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627460" cy="1714510"/>
            </a:xfrm>
            <a:custGeom>
              <a:avLst/>
              <a:gdLst/>
              <a:ahLst/>
              <a:cxnLst/>
              <a:rect r="r" b="b" t="t" l="l"/>
              <a:pathLst>
                <a:path h="1714510" w="1862746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01D5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REFERENCES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88032" y="1563876"/>
            <a:ext cx="16866518" cy="845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449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Radhakrishnan, I.; Jadon, S.; Honnavalli, P.B. Efficiency and Security Evaluation of Lightweight Cryptographic Algorithms for Resource-Constrained IoT Devices. Sensors 2024, 24, 4008. </a:t>
            </a:r>
          </a:p>
          <a:p>
            <a:pPr algn="just" marL="647698" indent="-323849" lvl="1">
              <a:lnSpc>
                <a:spcPts val="449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Sleem, L., Couturier, R. Speck-R: An ultra light-weight cryptographic scheme for Internet of Things. Multimed Tools Appl 80, 17067–17102 (2021).</a:t>
            </a:r>
          </a:p>
          <a:p>
            <a:pPr algn="just" marL="647698" indent="-323849" lvl="1">
              <a:lnSpc>
                <a:spcPts val="449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L. Ertaul and A. Chauhan, "IoT Security: Implementation of Xtea, Simon/Speck Lightweight Block Ciphers," 2023 Congress in Computer Science, Computer Engineering, &amp; Applied Computing (CSCE), Las Vegas, NV, USA, 2023, pp. 2478-2485.</a:t>
            </a:r>
          </a:p>
          <a:p>
            <a:pPr algn="just" marL="647698" indent="-323849" lvl="1">
              <a:lnSpc>
                <a:spcPts val="449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Guy L. Steele Jr.,  Doug Lea, Christine H. Flood, Fast splittable pseudorandom number generators, ACM SIGPLAN Notices, </a:t>
            </a: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" tooltip="https://dl.acm.org/toc/sigplan/2014/49/10"/>
              </a:rPr>
              <a:t>Volume 49, Issue 10</a:t>
            </a: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Pages 453 - 472. </a:t>
            </a:r>
          </a:p>
          <a:p>
            <a:pPr algn="just" marL="647698" indent="-323849" lvl="1">
              <a:lnSpc>
                <a:spcPts val="449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Q. Yu and C. N. Zhang, "RC4 state and its applications," 2011 Ninth Annual International Conference on Privacy, Security and Trust, Montreal, QC, Canada, 2011, pp. 264-269.</a:t>
            </a:r>
          </a:p>
          <a:p>
            <a:pPr algn="just" marL="647698" indent="-323849" lvl="1">
              <a:lnSpc>
                <a:spcPts val="449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Kerry A. McKay, Larry Basshaz, Meltem Sönmez Turan, Nicky Mouha “Report on Lightweight Cryptography”, National Institute of Standards and Technology Internal Report 81141 29 pages (August 2017)</a:t>
            </a:r>
          </a:p>
          <a:p>
            <a:pPr algn="just">
              <a:lnSpc>
                <a:spcPts val="4499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976138" y="404027"/>
            <a:ext cx="3922888" cy="880198"/>
          </a:xfrm>
          <a:custGeom>
            <a:avLst/>
            <a:gdLst/>
            <a:ahLst/>
            <a:cxnLst/>
            <a:rect r="r" b="b" t="t" l="l"/>
            <a:pathLst>
              <a:path h="880198" w="392288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490814" y="9030873"/>
            <a:ext cx="1853882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18/02/2025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077" y="196828"/>
            <a:ext cx="17959134" cy="9910974"/>
            <a:chOff x="0" y="0"/>
            <a:chExt cx="4729978" cy="26102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29978" cy="2610298"/>
            </a:xfrm>
            <a:custGeom>
              <a:avLst/>
              <a:gdLst/>
              <a:ahLst/>
              <a:cxnLst/>
              <a:rect r="r" b="b" t="t" l="l"/>
              <a:pathLst>
                <a:path h="2610298" w="4729978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17676" y="3829542"/>
            <a:ext cx="13677103" cy="2645546"/>
            <a:chOff x="0" y="0"/>
            <a:chExt cx="18236137" cy="35273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36136" cy="3527394"/>
            </a:xfrm>
            <a:custGeom>
              <a:avLst/>
              <a:gdLst/>
              <a:ahLst/>
              <a:cxnLst/>
              <a:rect r="r" b="b" t="t" l="l"/>
              <a:pathLst>
                <a:path h="3527394" w="18236136">
                  <a:moveTo>
                    <a:pt x="0" y="0"/>
                  </a:moveTo>
                  <a:lnTo>
                    <a:pt x="18236136" y="0"/>
                  </a:lnTo>
                  <a:lnTo>
                    <a:pt x="18236136" y="3527394"/>
                  </a:lnTo>
                  <a:lnTo>
                    <a:pt x="0" y="35273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66700"/>
              <a:ext cx="18236137" cy="37940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6320"/>
                </a:lnSpc>
              </a:pPr>
              <a:r>
                <a:rPr lang="en-US" sz="13600">
                  <a:solidFill>
                    <a:srgbClr val="0070C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</a:t>
              </a:r>
              <a:r>
                <a:rPr lang="en-US" sz="13600">
                  <a:solidFill>
                    <a:srgbClr val="001D5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THANK YOU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92782" y="9324975"/>
            <a:ext cx="578768" cy="578768"/>
            <a:chOff x="0" y="0"/>
            <a:chExt cx="152433" cy="1524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33" cy="152433"/>
            </a:xfrm>
            <a:custGeom>
              <a:avLst/>
              <a:gdLst/>
              <a:ahLst/>
              <a:cxnLst/>
              <a:rect r="r" b="b" t="t" l="l"/>
              <a:pathLst>
                <a:path h="152433" w="152433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15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3976138" y="404027"/>
            <a:ext cx="3922888" cy="880198"/>
          </a:xfrm>
          <a:custGeom>
            <a:avLst/>
            <a:gdLst/>
            <a:ahLst/>
            <a:cxnLst/>
            <a:rect r="r" b="b" t="t" l="l"/>
            <a:pathLst>
              <a:path h="880198" w="3922888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490814" y="9030873"/>
            <a:ext cx="1853882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18/02/2025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DAGe8UZLz14</dc:identifier>
  <dcterms:modified xsi:type="dcterms:W3CDTF">2011-08-01T06:04:30Z</dcterms:modified>
  <cp:revision>1</cp:revision>
  <dc:title>mini_project</dc:title>
</cp:coreProperties>
</file>